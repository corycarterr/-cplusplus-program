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3CCCB"/>
          </a:solidFill>
        </a:fill>
      </a:tcStyle>
    </a:wholeTbl>
    <a:band2H>
      <a:tcTxStyle b="def" i="def"/>
      <a:tcStyle>
        <a:tcBdr/>
        <a:fill>
          <a:solidFill>
            <a:srgbClr val="F9E7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6E8CC"/>
          </a:solidFill>
        </a:fill>
      </a:tcStyle>
    </a:wholeTbl>
    <a:band2H>
      <a:tcTxStyle b="def" i="def"/>
      <a:tcStyle>
        <a:tcBdr/>
        <a:fill>
          <a:solidFill>
            <a:srgbClr val="FBF4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DEF2"/>
          </a:solidFill>
        </a:fill>
      </a:tcStyle>
    </a:wholeTbl>
    <a:band2H>
      <a:tcTxStyle b="def" i="def"/>
      <a:tcStyle>
        <a:tcBdr/>
        <a:fill>
          <a:solidFill>
            <a:srgbClr val="E8EFF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" name="Shape 19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6;p15" descr="Google Shape;6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Google Shape;13;p16" descr="Google Shape;13;p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itle Text"/>
          <p:cNvSpPr txBox="1"/>
          <p:nvPr>
            <p:ph type="title"/>
          </p:nvPr>
        </p:nvSpPr>
        <p:spPr>
          <a:xfrm>
            <a:off x="1371600" y="1803405"/>
            <a:ext cx="9448800" cy="182509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5" name="Body Level One…"/>
          <p:cNvSpPr txBox="1"/>
          <p:nvPr>
            <p:ph type="body" sz="quarter" idx="1"/>
          </p:nvPr>
        </p:nvSpPr>
        <p:spPr>
          <a:xfrm>
            <a:off x="1371600" y="3632201"/>
            <a:ext cx="9448800" cy="685801"/>
          </a:xfrm>
          <a:prstGeom prst="rect">
            <a:avLst/>
          </a:prstGeom>
        </p:spPr>
        <p:txBody>
          <a:bodyPr/>
          <a:lstStyle>
            <a:lvl1pPr marL="368300" indent="-279400">
              <a:buClrTx/>
              <a:buSzTx/>
              <a:buFontTx/>
              <a:buNone/>
              <a:defRPr sz="2000"/>
            </a:lvl1pPr>
            <a:lvl2pPr marL="368300" indent="190500">
              <a:buClrTx/>
              <a:buSzTx/>
              <a:buFontTx/>
              <a:buNone/>
              <a:defRPr sz="2000"/>
            </a:lvl2pPr>
            <a:lvl3pPr marL="368300" indent="660400">
              <a:buClrTx/>
              <a:buSzTx/>
              <a:buFontTx/>
              <a:buNone/>
              <a:defRPr sz="2000"/>
            </a:lvl3pPr>
            <a:lvl4pPr marL="368300" indent="1130300">
              <a:buClrTx/>
              <a:buSzTx/>
              <a:buFontTx/>
              <a:buNone/>
              <a:defRPr sz="2000"/>
            </a:lvl4pPr>
            <a:lvl5pPr marL="368300" indent="1587500">
              <a:buClrTx/>
              <a:buSzTx/>
              <a:buFontTx/>
              <a:buNone/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/>
          <p:nvPr>
            <p:ph type="sldNum" sz="quarter" idx="2"/>
          </p:nvPr>
        </p:nvSpPr>
        <p:spPr>
          <a:xfrm>
            <a:off x="10575533" y="1491528"/>
            <a:ext cx="244868" cy="2438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6;p15" descr="Google Shape;6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Title Text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5" name="Body Level One…"/>
          <p:cNvSpPr txBox="1"/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>
            <a:lvl1pPr indent="-342900"/>
            <a:lvl2pPr marL="948689" indent="-377189"/>
            <a:lvl4pPr marL="1957387" indent="-471487"/>
            <a:lvl5pPr marL="2414587" indent="-471487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26;p18" descr="Google Shape;26;p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Title Text"/>
          <p:cNvSpPr txBox="1"/>
          <p:nvPr>
            <p:ph type="title"/>
          </p:nvPr>
        </p:nvSpPr>
        <p:spPr>
          <a:xfrm>
            <a:off x="685800" y="753532"/>
            <a:ext cx="10820400" cy="2801936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35" name="Body Level One…"/>
          <p:cNvSpPr txBox="1"/>
          <p:nvPr>
            <p:ph type="body" sz="quarter" idx="1"/>
          </p:nvPr>
        </p:nvSpPr>
        <p:spPr>
          <a:xfrm>
            <a:off x="1024467" y="3641725"/>
            <a:ext cx="10490201" cy="955675"/>
          </a:xfrm>
          <a:prstGeom prst="rect">
            <a:avLst/>
          </a:prstGeom>
        </p:spPr>
        <p:txBody>
          <a:bodyPr/>
          <a:lstStyle>
            <a:lvl1pPr marL="228600" indent="0" algn="r">
              <a:buClrTx/>
              <a:buSzTx/>
              <a:buFontTx/>
              <a:buNone/>
            </a:lvl1pPr>
            <a:lvl2pPr marL="228600" indent="457200" algn="r">
              <a:buClrTx/>
              <a:buSzTx/>
              <a:buFontTx/>
              <a:buNone/>
            </a:lvl2pPr>
            <a:lvl3pPr marL="228600" indent="914400" algn="r">
              <a:buClrTx/>
              <a:buSzTx/>
              <a:buFontTx/>
              <a:buNone/>
            </a:lvl3pPr>
            <a:lvl4pPr marL="228600" indent="1371600" algn="r">
              <a:buClrTx/>
              <a:buSzTx/>
              <a:buFontTx/>
              <a:buNone/>
            </a:lvl4pPr>
            <a:lvl5pPr marL="228600" indent="1828800" algn="r">
              <a:buClrTx/>
              <a:buSzTx/>
              <a:buFont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" name="Slide Number"/>
          <p:cNvSpPr txBox="1"/>
          <p:nvPr>
            <p:ph type="sldNum" sz="quarter" idx="2"/>
          </p:nvPr>
        </p:nvSpPr>
        <p:spPr>
          <a:xfrm>
            <a:off x="11261333" y="441662"/>
            <a:ext cx="244867" cy="2438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Text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4" name="Body Level One…"/>
          <p:cNvSpPr txBox="1"/>
          <p:nvPr>
            <p:ph type="body" sz="half" idx="1"/>
          </p:nvPr>
        </p:nvSpPr>
        <p:spPr>
          <a:xfrm>
            <a:off x="685800" y="2194559"/>
            <a:ext cx="5334000" cy="4024125"/>
          </a:xfrm>
          <a:prstGeom prst="rect">
            <a:avLst/>
          </a:prstGeom>
        </p:spPr>
        <p:txBody>
          <a:bodyPr/>
          <a:lstStyle>
            <a:lvl1pPr indent="-342900"/>
            <a:lvl2pPr marL="948689" indent="-377189"/>
            <a:lvl4pPr marL="1957387" indent="-471487"/>
            <a:lvl5pPr marL="2414587" indent="-471487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Google Shape;35;p19"/>
          <p:cNvSpPr txBox="1"/>
          <p:nvPr>
            <p:ph type="body" sz="half" idx="21"/>
          </p:nvPr>
        </p:nvSpPr>
        <p:spPr>
          <a:xfrm>
            <a:off x="6172200" y="2194559"/>
            <a:ext cx="5334000" cy="4024126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/>
          <p:nvPr>
            <p:ph type="title"/>
          </p:nvPr>
        </p:nvSpPr>
        <p:spPr>
          <a:xfrm>
            <a:off x="2895600" y="762000"/>
            <a:ext cx="8610600" cy="12954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4" name="Body Level One…"/>
          <p:cNvSpPr txBox="1"/>
          <p:nvPr>
            <p:ph type="body" sz="quarter" idx="1"/>
          </p:nvPr>
        </p:nvSpPr>
        <p:spPr>
          <a:xfrm>
            <a:off x="914409" y="2183801"/>
            <a:ext cx="5079992" cy="823913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sz="2800"/>
            </a:lvl1pPr>
            <a:lvl2pPr marL="228600" indent="457200">
              <a:buClrTx/>
              <a:buSzTx/>
              <a:buFontTx/>
              <a:buNone/>
              <a:defRPr sz="2800"/>
            </a:lvl2pPr>
            <a:lvl3pPr marL="228600" indent="914400">
              <a:buClrTx/>
              <a:buSzTx/>
              <a:buFontTx/>
              <a:buNone/>
              <a:defRPr sz="2800"/>
            </a:lvl3pPr>
            <a:lvl4pPr marL="228600" indent="1371600">
              <a:buClrTx/>
              <a:buSzTx/>
              <a:buFontTx/>
              <a:buNone/>
              <a:defRPr sz="2800"/>
            </a:lvl4pPr>
            <a:lvl5pPr marL="228600" indent="1828800">
              <a:buClrTx/>
              <a:buSzTx/>
              <a:buFontTx/>
              <a:buNone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Google Shape;42;p20"/>
          <p:cNvSpPr txBox="1"/>
          <p:nvPr>
            <p:ph type="body" sz="quarter" idx="21"/>
          </p:nvPr>
        </p:nvSpPr>
        <p:spPr>
          <a:xfrm>
            <a:off x="685800" y="3132665"/>
            <a:ext cx="5311775" cy="3086020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56" name="Google Shape;43;p20"/>
          <p:cNvSpPr txBox="1"/>
          <p:nvPr>
            <p:ph type="body" sz="quarter" idx="22"/>
          </p:nvPr>
        </p:nvSpPr>
        <p:spPr>
          <a:xfrm>
            <a:off x="6400800" y="2183801"/>
            <a:ext cx="5105400" cy="823913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sz="2800"/>
            </a:pPr>
          </a:p>
        </p:txBody>
      </p:sp>
      <p:sp>
        <p:nvSpPr>
          <p:cNvPr id="57" name="Google Shape;44;p20"/>
          <p:cNvSpPr txBox="1"/>
          <p:nvPr>
            <p:ph type="body" sz="quarter" idx="23"/>
          </p:nvPr>
        </p:nvSpPr>
        <p:spPr>
          <a:xfrm>
            <a:off x="6172200" y="3132665"/>
            <a:ext cx="5334000" cy="3086020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Text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Text"/>
          <p:cNvSpPr txBox="1"/>
          <p:nvPr>
            <p:ph type="title"/>
          </p:nvPr>
        </p:nvSpPr>
        <p:spPr>
          <a:xfrm>
            <a:off x="685800" y="1524000"/>
            <a:ext cx="4114800" cy="1600200"/>
          </a:xfrm>
          <a:prstGeom prst="rect">
            <a:avLst/>
          </a:prstGeom>
        </p:spPr>
        <p:txBody>
          <a:bodyPr anchor="b"/>
          <a:lstStyle>
            <a:lvl1pPr algn="l"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1" name="Body Level One…"/>
          <p:cNvSpPr txBox="1"/>
          <p:nvPr>
            <p:ph type="body" idx="1"/>
          </p:nvPr>
        </p:nvSpPr>
        <p:spPr>
          <a:xfrm>
            <a:off x="4995581" y="746759"/>
            <a:ext cx="6510619" cy="5471925"/>
          </a:xfrm>
          <a:prstGeom prst="rect">
            <a:avLst/>
          </a:prstGeom>
        </p:spPr>
        <p:txBody>
          <a:bodyPr anchor="ctr"/>
          <a:lstStyle>
            <a:lvl1pPr indent="-342900"/>
            <a:lvl2pPr marL="948689" indent="-377189"/>
            <a:lvl4pPr marL="1957387" indent="-471487"/>
            <a:lvl5pPr marL="2414587" indent="-471487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Google Shape;60;p23"/>
          <p:cNvSpPr txBox="1"/>
          <p:nvPr>
            <p:ph type="body" sz="quarter" idx="21"/>
          </p:nvPr>
        </p:nvSpPr>
        <p:spPr>
          <a:xfrm>
            <a:off x="685800" y="3124199"/>
            <a:ext cx="4114800" cy="3094486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600"/>
            </a:pPr>
          </a:p>
        </p:txBody>
      </p:sp>
      <p:sp>
        <p:nvSpPr>
          <p:cNvPr id="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Text"/>
          <p:cNvSpPr txBox="1"/>
          <p:nvPr>
            <p:ph type="title"/>
          </p:nvPr>
        </p:nvSpPr>
        <p:spPr>
          <a:xfrm>
            <a:off x="685800" y="1524000"/>
            <a:ext cx="6873241" cy="1600200"/>
          </a:xfrm>
          <a:prstGeom prst="rect">
            <a:avLst/>
          </a:prstGeom>
        </p:spPr>
        <p:txBody>
          <a:bodyPr anchor="b"/>
          <a:lstStyle>
            <a:lvl1pPr algn="l"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91" name="Google Shape;66;p24"/>
          <p:cNvSpPr/>
          <p:nvPr>
            <p:ph type="pic" sz="half" idx="21"/>
          </p:nvPr>
        </p:nvSpPr>
        <p:spPr>
          <a:xfrm>
            <a:off x="7861237" y="751241"/>
            <a:ext cx="3644963" cy="546744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685800" y="3124199"/>
            <a:ext cx="6873241" cy="3094485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600"/>
            </a:lvl1pPr>
            <a:lvl2pPr marL="228600" indent="457200">
              <a:buClrTx/>
              <a:buSzTx/>
              <a:buFontTx/>
              <a:buNone/>
              <a:defRPr sz="1600"/>
            </a:lvl2pPr>
            <a:lvl3pPr marL="228600" indent="914400">
              <a:buClrTx/>
              <a:buSzTx/>
              <a:buFontTx/>
              <a:buNone/>
              <a:defRPr sz="1600"/>
            </a:lvl3pPr>
            <a:lvl4pPr marL="228600" indent="1371600">
              <a:buClrTx/>
              <a:buSzTx/>
              <a:buFontTx/>
              <a:buNone/>
              <a:defRPr sz="1600"/>
            </a:lvl4pPr>
            <a:lvl5pPr marL="228600" indent="1828800">
              <a:buClrTx/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Text"/>
          <p:cNvSpPr txBox="1"/>
          <p:nvPr>
            <p:ph type="title"/>
          </p:nvPr>
        </p:nvSpPr>
        <p:spPr>
          <a:xfrm>
            <a:off x="685776" y="4697360"/>
            <a:ext cx="10822035" cy="819356"/>
          </a:xfrm>
          <a:prstGeom prst="rect">
            <a:avLst/>
          </a:prstGeom>
        </p:spPr>
        <p:txBody>
          <a:bodyPr anchor="b"/>
          <a:lstStyle>
            <a:lvl1pPr algn="l"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01" name="Google Shape;73;p25"/>
          <p:cNvSpPr/>
          <p:nvPr>
            <p:ph type="pic" idx="21"/>
          </p:nvPr>
        </p:nvSpPr>
        <p:spPr>
          <a:xfrm>
            <a:off x="681726" y="941439"/>
            <a:ext cx="10821842" cy="347816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2" name="Body Level One…"/>
          <p:cNvSpPr txBox="1"/>
          <p:nvPr>
            <p:ph type="body" sz="quarter" idx="1"/>
          </p:nvPr>
        </p:nvSpPr>
        <p:spPr>
          <a:xfrm>
            <a:off x="685800" y="5516714"/>
            <a:ext cx="10820400" cy="701970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600"/>
            </a:lvl1pPr>
            <a:lvl2pPr marL="228600" indent="457200">
              <a:buClrTx/>
              <a:buSzTx/>
              <a:buFontTx/>
              <a:buNone/>
              <a:defRPr sz="1600"/>
            </a:lvl2pPr>
            <a:lvl3pPr marL="228600" indent="914400">
              <a:buClrTx/>
              <a:buSzTx/>
              <a:buFontTx/>
              <a:buNone/>
              <a:defRPr sz="1600"/>
            </a:lvl3pPr>
            <a:lvl4pPr marL="228600" indent="1371600">
              <a:buClrTx/>
              <a:buSzTx/>
              <a:buFontTx/>
              <a:buNone/>
              <a:defRPr sz="1600"/>
            </a:lvl4pPr>
            <a:lvl5pPr marL="228600" indent="1828800">
              <a:buClrTx/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79;p26" descr="Google Shape;79;p2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Title Text"/>
          <p:cNvSpPr txBox="1"/>
          <p:nvPr>
            <p:ph type="title"/>
          </p:nvPr>
        </p:nvSpPr>
        <p:spPr>
          <a:xfrm>
            <a:off x="685800" y="753532"/>
            <a:ext cx="10820400" cy="2802467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12" name="Body Level One…"/>
          <p:cNvSpPr txBox="1"/>
          <p:nvPr>
            <p:ph type="body" sz="quarter" idx="1"/>
          </p:nvPr>
        </p:nvSpPr>
        <p:spPr>
          <a:xfrm>
            <a:off x="1024467" y="3649133"/>
            <a:ext cx="10130516" cy="999068"/>
          </a:xfrm>
          <a:prstGeom prst="rect">
            <a:avLst/>
          </a:prstGeom>
        </p:spPr>
        <p:txBody>
          <a:bodyPr anchor="ctr"/>
          <a:lstStyle>
            <a:lvl1pPr marL="228600" indent="0">
              <a:buClrTx/>
              <a:buSzTx/>
              <a:buFontTx/>
              <a:buNone/>
              <a:defRPr sz="1600"/>
            </a:lvl1pPr>
            <a:lvl2pPr marL="228600" indent="457200">
              <a:buClrTx/>
              <a:buSzTx/>
              <a:buFontTx/>
              <a:buNone/>
              <a:defRPr sz="1600"/>
            </a:lvl2pPr>
            <a:lvl3pPr marL="228600" indent="914400">
              <a:buClrTx/>
              <a:buSzTx/>
              <a:buFontTx/>
              <a:buNone/>
              <a:defRPr sz="1600"/>
            </a:lvl3pPr>
            <a:lvl4pPr marL="228600" indent="1371600">
              <a:buClrTx/>
              <a:buSzTx/>
              <a:buFontTx/>
              <a:buNone/>
              <a:defRPr sz="1600"/>
            </a:lvl4pPr>
            <a:lvl5pPr marL="228600" indent="1828800">
              <a:buClrTx/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xfrm>
            <a:off x="11261333" y="441662"/>
            <a:ext cx="244867" cy="2438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86;p27" descr="Google Shape;86;p2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Title Text"/>
          <p:cNvSpPr txBox="1"/>
          <p:nvPr>
            <p:ph type="title"/>
          </p:nvPr>
        </p:nvSpPr>
        <p:spPr>
          <a:xfrm>
            <a:off x="1024467" y="753532"/>
            <a:ext cx="10151534" cy="2604497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22" name="Body Level One…"/>
          <p:cNvSpPr txBox="1"/>
          <p:nvPr>
            <p:ph type="body" sz="quarter" idx="1"/>
          </p:nvPr>
        </p:nvSpPr>
        <p:spPr>
          <a:xfrm>
            <a:off x="1303864" y="3365555"/>
            <a:ext cx="9592738" cy="444444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400"/>
            </a:lvl1pPr>
            <a:lvl2pPr marL="228600" indent="457200">
              <a:buClrTx/>
              <a:buSzTx/>
              <a:buFontTx/>
              <a:buNone/>
              <a:defRPr sz="1400"/>
            </a:lvl2pPr>
            <a:lvl3pPr marL="228600" indent="914400">
              <a:buClrTx/>
              <a:buSzTx/>
              <a:buFontTx/>
              <a:buNone/>
              <a:defRPr sz="1400"/>
            </a:lvl3pPr>
            <a:lvl4pPr marL="228600" indent="1371600">
              <a:buClrTx/>
              <a:buSzTx/>
              <a:buFontTx/>
              <a:buNone/>
              <a:defRPr sz="1400"/>
            </a:lvl4pPr>
            <a:lvl5pPr marL="228600" indent="1828800">
              <a:buClrTx/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3" name="Google Shape;89;p27"/>
          <p:cNvSpPr txBox="1"/>
          <p:nvPr>
            <p:ph type="body" sz="quarter" idx="21"/>
          </p:nvPr>
        </p:nvSpPr>
        <p:spPr>
          <a:xfrm>
            <a:off x="1024466" y="3959862"/>
            <a:ext cx="10151535" cy="679872"/>
          </a:xfrm>
          <a:prstGeom prst="rect">
            <a:avLst/>
          </a:prstGeom>
        </p:spPr>
        <p:txBody>
          <a:bodyPr anchor="ctr"/>
          <a:lstStyle/>
          <a:p>
            <a:pPr marL="228600" indent="0">
              <a:buClrTx/>
              <a:buSzTx/>
              <a:buFontTx/>
              <a:buNone/>
              <a:defRPr sz="1600"/>
            </a:pPr>
          </a:p>
        </p:txBody>
      </p:sp>
      <p:sp>
        <p:nvSpPr>
          <p:cNvPr id="124" name="Google Shape;93;p27"/>
          <p:cNvSpPr txBox="1"/>
          <p:nvPr/>
        </p:nvSpPr>
        <p:spPr>
          <a:xfrm>
            <a:off x="521974" y="557838"/>
            <a:ext cx="518152" cy="133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8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125" name="Google Shape;94;p27"/>
          <p:cNvSpPr txBox="1"/>
          <p:nvPr/>
        </p:nvSpPr>
        <p:spPr>
          <a:xfrm>
            <a:off x="11029955" y="2325677"/>
            <a:ext cx="518151" cy="133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r">
              <a:defRPr sz="8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126" name="Slide Number"/>
          <p:cNvSpPr txBox="1"/>
          <p:nvPr>
            <p:ph type="sldNum" sz="quarter" idx="2"/>
          </p:nvPr>
        </p:nvSpPr>
        <p:spPr>
          <a:xfrm>
            <a:off x="11261333" y="441662"/>
            <a:ext cx="244867" cy="2438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96;p28" descr="Google Shape;96;p2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itle Text"/>
          <p:cNvSpPr txBox="1"/>
          <p:nvPr>
            <p:ph type="title"/>
          </p:nvPr>
        </p:nvSpPr>
        <p:spPr>
          <a:xfrm>
            <a:off x="1024495" y="1124701"/>
            <a:ext cx="10146187" cy="2511836"/>
          </a:xfrm>
          <a:prstGeom prst="rect">
            <a:avLst/>
          </a:prstGeom>
        </p:spPr>
        <p:txBody>
          <a:bodyPr anchor="b"/>
          <a:lstStyle>
            <a:lvl1pPr algn="l"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35" name="Body Level One…"/>
          <p:cNvSpPr txBox="1"/>
          <p:nvPr>
            <p:ph type="body" sz="quarter" idx="1"/>
          </p:nvPr>
        </p:nvSpPr>
        <p:spPr>
          <a:xfrm>
            <a:off x="1024467" y="3648314"/>
            <a:ext cx="10144654" cy="999886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600"/>
            </a:lvl1pPr>
            <a:lvl2pPr marL="228600" indent="457200">
              <a:buClrTx/>
              <a:buSzTx/>
              <a:buFontTx/>
              <a:buNone/>
              <a:defRPr sz="1600"/>
            </a:lvl2pPr>
            <a:lvl3pPr marL="228600" indent="914400">
              <a:buClrTx/>
              <a:buSzTx/>
              <a:buFontTx/>
              <a:buNone/>
              <a:defRPr sz="1600"/>
            </a:lvl3pPr>
            <a:lvl4pPr marL="228600" indent="1371600">
              <a:buClrTx/>
              <a:buSzTx/>
              <a:buFontTx/>
              <a:buNone/>
              <a:defRPr sz="1600"/>
            </a:lvl4pPr>
            <a:lvl5pPr marL="228600" indent="1828800">
              <a:buClrTx/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6" name="Slide Number"/>
          <p:cNvSpPr txBox="1"/>
          <p:nvPr>
            <p:ph type="sldNum" sz="quarter" idx="2"/>
          </p:nvPr>
        </p:nvSpPr>
        <p:spPr>
          <a:xfrm>
            <a:off x="11261333" y="441662"/>
            <a:ext cx="244867" cy="2438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tle Text"/>
          <p:cNvSpPr txBox="1"/>
          <p:nvPr>
            <p:ph type="title"/>
          </p:nvPr>
        </p:nvSpPr>
        <p:spPr>
          <a:xfrm>
            <a:off x="2895600" y="761998"/>
            <a:ext cx="8610600" cy="130386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44" name="Body Level One…"/>
          <p:cNvSpPr txBox="1"/>
          <p:nvPr>
            <p:ph type="body" sz="quarter" idx="1"/>
          </p:nvPr>
        </p:nvSpPr>
        <p:spPr>
          <a:xfrm>
            <a:off x="685800" y="2202079"/>
            <a:ext cx="3456433" cy="617321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sz="2400"/>
            </a:lvl1pPr>
            <a:lvl2pPr marL="228600" indent="457200">
              <a:buClrTx/>
              <a:buSzTx/>
              <a:buFontTx/>
              <a:buNone/>
              <a:defRPr sz="2400"/>
            </a:lvl2pPr>
            <a:lvl3pPr marL="228600" indent="914400">
              <a:buClrTx/>
              <a:buSzTx/>
              <a:buFontTx/>
              <a:buNone/>
              <a:defRPr sz="2400"/>
            </a:lvl3pPr>
            <a:lvl4pPr marL="228600" indent="1371600">
              <a:buClrTx/>
              <a:buSzTx/>
              <a:buFontTx/>
              <a:buNone/>
              <a:defRPr sz="2400"/>
            </a:lvl4pPr>
            <a:lvl5pPr marL="228600" indent="1828800">
              <a:buClrTx/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5" name="Google Shape;105;p29"/>
          <p:cNvSpPr txBox="1"/>
          <p:nvPr>
            <p:ph type="body" sz="quarter" idx="21"/>
          </p:nvPr>
        </p:nvSpPr>
        <p:spPr>
          <a:xfrm>
            <a:off x="685798" y="2904564"/>
            <a:ext cx="3456434" cy="3314132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400"/>
            </a:pPr>
          </a:p>
        </p:txBody>
      </p:sp>
      <p:sp>
        <p:nvSpPr>
          <p:cNvPr id="146" name="Google Shape;106;p29"/>
          <p:cNvSpPr txBox="1"/>
          <p:nvPr>
            <p:ph type="body" sz="quarter" idx="22"/>
          </p:nvPr>
        </p:nvSpPr>
        <p:spPr>
          <a:xfrm>
            <a:off x="4368799" y="2201333"/>
            <a:ext cx="3456434" cy="626535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sz="2400"/>
            </a:pPr>
          </a:p>
        </p:txBody>
      </p:sp>
      <p:sp>
        <p:nvSpPr>
          <p:cNvPr id="147" name="Google Shape;107;p29"/>
          <p:cNvSpPr txBox="1"/>
          <p:nvPr>
            <p:ph type="body" sz="quarter" idx="23"/>
          </p:nvPr>
        </p:nvSpPr>
        <p:spPr>
          <a:xfrm>
            <a:off x="4366857" y="2904066"/>
            <a:ext cx="3456433" cy="3314618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400"/>
            </a:pPr>
          </a:p>
        </p:txBody>
      </p:sp>
      <p:sp>
        <p:nvSpPr>
          <p:cNvPr id="148" name="Google Shape;108;p29"/>
          <p:cNvSpPr txBox="1"/>
          <p:nvPr>
            <p:ph type="body" sz="quarter" idx="24"/>
          </p:nvPr>
        </p:nvSpPr>
        <p:spPr>
          <a:xfrm>
            <a:off x="8051799" y="2192865"/>
            <a:ext cx="3456434" cy="626535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sz="2400"/>
            </a:pPr>
          </a:p>
        </p:txBody>
      </p:sp>
      <p:sp>
        <p:nvSpPr>
          <p:cNvPr id="149" name="Google Shape;109;p29"/>
          <p:cNvSpPr txBox="1"/>
          <p:nvPr>
            <p:ph type="body" sz="quarter" idx="25"/>
          </p:nvPr>
        </p:nvSpPr>
        <p:spPr>
          <a:xfrm>
            <a:off x="8051800" y="2904564"/>
            <a:ext cx="3456433" cy="3314132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400"/>
            </a:pPr>
          </a:p>
        </p:txBody>
      </p:sp>
      <p:sp>
        <p:nvSpPr>
          <p:cNvPr id="1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itle Text"/>
          <p:cNvSpPr txBox="1"/>
          <p:nvPr>
            <p:ph type="title"/>
          </p:nvPr>
        </p:nvSpPr>
        <p:spPr>
          <a:xfrm>
            <a:off x="2895600" y="762000"/>
            <a:ext cx="8610600" cy="12954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58" name="Body Level One…"/>
          <p:cNvSpPr txBox="1"/>
          <p:nvPr>
            <p:ph type="body" sz="quarter" idx="1"/>
          </p:nvPr>
        </p:nvSpPr>
        <p:spPr>
          <a:xfrm>
            <a:off x="688617" y="4191000"/>
            <a:ext cx="3451583" cy="682766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sz="2400"/>
            </a:lvl1pPr>
            <a:lvl2pPr marL="228600" indent="457200">
              <a:buClrTx/>
              <a:buSzTx/>
              <a:buFontTx/>
              <a:buNone/>
              <a:defRPr sz="2400"/>
            </a:lvl2pPr>
            <a:lvl3pPr marL="228600" indent="914400">
              <a:buClrTx/>
              <a:buSzTx/>
              <a:buFontTx/>
              <a:buNone/>
              <a:defRPr sz="2400"/>
            </a:lvl3pPr>
            <a:lvl4pPr marL="228600" indent="1371600">
              <a:buClrTx/>
              <a:buSzTx/>
              <a:buFontTx/>
              <a:buNone/>
              <a:defRPr sz="2400"/>
            </a:lvl4pPr>
            <a:lvl5pPr marL="228600" indent="1828800">
              <a:buClrTx/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9" name="Google Shape;116;p30"/>
          <p:cNvSpPr/>
          <p:nvPr>
            <p:ph type="pic" sz="quarter" idx="21"/>
          </p:nvPr>
        </p:nvSpPr>
        <p:spPr>
          <a:xfrm>
            <a:off x="688618" y="2362200"/>
            <a:ext cx="3451582" cy="1524000"/>
          </a:xfrm>
          <a:prstGeom prst="rect">
            <a:avLst/>
          </a:prstGeom>
          <a:effectLst>
            <a:outerShdw sx="100000" sy="100000" kx="0" ky="0" algn="b" rotWithShape="0" blurRad="50800" dist="50800" dir="5400000">
              <a:srgbClr val="000000">
                <a:alpha val="4196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60" name="Google Shape;117;p30"/>
          <p:cNvSpPr txBox="1"/>
          <p:nvPr>
            <p:ph type="body" sz="quarter" idx="22"/>
          </p:nvPr>
        </p:nvSpPr>
        <p:spPr>
          <a:xfrm>
            <a:off x="688618" y="4873764"/>
            <a:ext cx="3451582" cy="1344922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400"/>
            </a:pPr>
          </a:p>
        </p:txBody>
      </p:sp>
      <p:sp>
        <p:nvSpPr>
          <p:cNvPr id="161" name="Google Shape;118;p30"/>
          <p:cNvSpPr txBox="1"/>
          <p:nvPr>
            <p:ph type="body" sz="quarter" idx="23"/>
          </p:nvPr>
        </p:nvSpPr>
        <p:spPr>
          <a:xfrm>
            <a:off x="4374262" y="4190999"/>
            <a:ext cx="3448935" cy="682767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sz="2400"/>
            </a:pPr>
          </a:p>
        </p:txBody>
      </p:sp>
      <p:sp>
        <p:nvSpPr>
          <p:cNvPr id="162" name="Google Shape;119;p30"/>
          <p:cNvSpPr/>
          <p:nvPr>
            <p:ph type="pic" sz="quarter" idx="24"/>
          </p:nvPr>
        </p:nvSpPr>
        <p:spPr>
          <a:xfrm>
            <a:off x="4374262" y="2362200"/>
            <a:ext cx="3448937" cy="1524000"/>
          </a:xfrm>
          <a:prstGeom prst="rect">
            <a:avLst/>
          </a:prstGeom>
          <a:effectLst>
            <a:outerShdw sx="100000" sy="100000" kx="0" ky="0" algn="b" rotWithShape="0" blurRad="50800" dist="50800" dir="5400000">
              <a:srgbClr val="000000">
                <a:alpha val="4196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63" name="Google Shape;120;p30"/>
          <p:cNvSpPr txBox="1"/>
          <p:nvPr>
            <p:ph type="body" sz="quarter" idx="25"/>
          </p:nvPr>
        </p:nvSpPr>
        <p:spPr>
          <a:xfrm>
            <a:off x="4374263" y="4873762"/>
            <a:ext cx="3448936" cy="1344922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400"/>
            </a:pPr>
          </a:p>
        </p:txBody>
      </p:sp>
      <p:sp>
        <p:nvSpPr>
          <p:cNvPr id="164" name="Google Shape;121;p30"/>
          <p:cNvSpPr txBox="1"/>
          <p:nvPr>
            <p:ph type="body" sz="quarter" idx="26"/>
          </p:nvPr>
        </p:nvSpPr>
        <p:spPr>
          <a:xfrm>
            <a:off x="8049731" y="4190999"/>
            <a:ext cx="3456469" cy="682767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sz="2400"/>
            </a:pPr>
          </a:p>
        </p:txBody>
      </p:sp>
      <p:sp>
        <p:nvSpPr>
          <p:cNvPr id="165" name="Google Shape;122;p30"/>
          <p:cNvSpPr/>
          <p:nvPr>
            <p:ph type="pic" sz="quarter" idx="27"/>
          </p:nvPr>
        </p:nvSpPr>
        <p:spPr>
          <a:xfrm>
            <a:off x="8049855" y="2362200"/>
            <a:ext cx="3447879" cy="1524000"/>
          </a:xfrm>
          <a:prstGeom prst="rect">
            <a:avLst/>
          </a:prstGeom>
          <a:effectLst>
            <a:outerShdw sx="100000" sy="100000" kx="0" ky="0" algn="b" rotWithShape="0" blurRad="50800" dist="50800" dir="5400000">
              <a:srgbClr val="000000">
                <a:alpha val="4196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66" name="Google Shape;123;p30"/>
          <p:cNvSpPr txBox="1"/>
          <p:nvPr>
            <p:ph type="body" sz="quarter" idx="28"/>
          </p:nvPr>
        </p:nvSpPr>
        <p:spPr>
          <a:xfrm>
            <a:off x="8049731" y="4873761"/>
            <a:ext cx="3452446" cy="1344922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400"/>
            </a:pPr>
          </a:p>
        </p:txBody>
      </p:sp>
      <p:sp>
        <p:nvSpPr>
          <p:cNvPr id="1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Text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75" name="Body Level One…"/>
          <p:cNvSpPr txBox="1"/>
          <p:nvPr>
            <p:ph type="body" idx="1"/>
          </p:nvPr>
        </p:nvSpPr>
        <p:spPr>
          <a:xfrm rot="5400000">
            <a:off x="4083937" y="-1203579"/>
            <a:ext cx="4024126" cy="10820401"/>
          </a:xfrm>
          <a:prstGeom prst="rect">
            <a:avLst/>
          </a:prstGeom>
        </p:spPr>
        <p:txBody>
          <a:bodyPr/>
          <a:lstStyle>
            <a:lvl1pPr indent="-342900"/>
            <a:lvl2pPr marL="948689" indent="-377189"/>
            <a:lvl4pPr marL="1957387" indent="-471487"/>
            <a:lvl5pPr marL="2414587" indent="-471487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34;p32" descr="Google Shape;134;p3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Title Text"/>
          <p:cNvSpPr txBox="1"/>
          <p:nvPr>
            <p:ph type="title"/>
          </p:nvPr>
        </p:nvSpPr>
        <p:spPr>
          <a:xfrm rot="5400000">
            <a:off x="8525933" y="1667933"/>
            <a:ext cx="3903134" cy="2057401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Title Text</a:t>
            </a:r>
          </a:p>
        </p:txBody>
      </p:sp>
      <p:sp>
        <p:nvSpPr>
          <p:cNvPr id="185" name="Body Level One…"/>
          <p:cNvSpPr txBox="1"/>
          <p:nvPr>
            <p:ph type="body" sz="half" idx="1"/>
          </p:nvPr>
        </p:nvSpPr>
        <p:spPr>
          <a:xfrm rot="5400000">
            <a:off x="3175000" y="-1405468"/>
            <a:ext cx="3903134" cy="8204202"/>
          </a:xfrm>
          <a:prstGeom prst="rect">
            <a:avLst/>
          </a:prstGeom>
        </p:spPr>
        <p:txBody>
          <a:bodyPr/>
          <a:lstStyle>
            <a:lvl1pPr indent="-342900"/>
            <a:lvl2pPr marL="948689" indent="-377189"/>
            <a:lvl4pPr marL="1957387" indent="-471487"/>
            <a:lvl5pPr marL="2414587" indent="-471487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6" name="Slide Number"/>
          <p:cNvSpPr txBox="1"/>
          <p:nvPr>
            <p:ph type="sldNum" sz="quarter" idx="2"/>
          </p:nvPr>
        </p:nvSpPr>
        <p:spPr>
          <a:xfrm>
            <a:off x="11261333" y="441662"/>
            <a:ext cx="244867" cy="2438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;p15" descr="Google Shape;6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11261333" y="441662"/>
            <a:ext cx="244868" cy="243801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FFFFFF"/>
          </a:solidFill>
          <a:uFillTx/>
          <a:latin typeface="Century Gothic"/>
          <a:ea typeface="Century Gothic"/>
          <a:cs typeface="Century Gothic"/>
          <a:sym typeface="Century Gothic"/>
        </a:defRPr>
      </a:lvl1pPr>
      <a:lvl2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FFFFFF"/>
          </a:solidFill>
          <a:uFillTx/>
          <a:latin typeface="Century Gothic"/>
          <a:ea typeface="Century Gothic"/>
          <a:cs typeface="Century Gothic"/>
          <a:sym typeface="Century Gothic"/>
        </a:defRPr>
      </a:lvl2pPr>
      <a:lvl3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FFFFFF"/>
          </a:solidFill>
          <a:uFillTx/>
          <a:latin typeface="Century Gothic"/>
          <a:ea typeface="Century Gothic"/>
          <a:cs typeface="Century Gothic"/>
          <a:sym typeface="Century Gothic"/>
        </a:defRPr>
      </a:lvl3pPr>
      <a:lvl4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FFFFFF"/>
          </a:solidFill>
          <a:uFillTx/>
          <a:latin typeface="Century Gothic"/>
          <a:ea typeface="Century Gothic"/>
          <a:cs typeface="Century Gothic"/>
          <a:sym typeface="Century Gothic"/>
        </a:defRPr>
      </a:lvl4pPr>
      <a:lvl5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FFFFFF"/>
          </a:solidFill>
          <a:uFillTx/>
          <a:latin typeface="Century Gothic"/>
          <a:ea typeface="Century Gothic"/>
          <a:cs typeface="Century Gothic"/>
          <a:sym typeface="Century Gothic"/>
        </a:defRPr>
      </a:lvl5pPr>
      <a:lvl6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FFFFFF"/>
          </a:solidFill>
          <a:uFillTx/>
          <a:latin typeface="Century Gothic"/>
          <a:ea typeface="Century Gothic"/>
          <a:cs typeface="Century Gothic"/>
          <a:sym typeface="Century Gothic"/>
        </a:defRPr>
      </a:lvl6pPr>
      <a:lvl7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FFFFFF"/>
          </a:solidFill>
          <a:uFillTx/>
          <a:latin typeface="Century Gothic"/>
          <a:ea typeface="Century Gothic"/>
          <a:cs typeface="Century Gothic"/>
          <a:sym typeface="Century Gothic"/>
        </a:defRPr>
      </a:lvl7pPr>
      <a:lvl8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FFFFFF"/>
          </a:solidFill>
          <a:uFillTx/>
          <a:latin typeface="Century Gothic"/>
          <a:ea typeface="Century Gothic"/>
          <a:cs typeface="Century Gothic"/>
          <a:sym typeface="Century Gothic"/>
        </a:defRPr>
      </a:lvl8pPr>
      <a:lvl9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FFFFFF"/>
          </a:solidFill>
          <a:uFillTx/>
          <a:latin typeface="Century Gothic"/>
          <a:ea typeface="Century Gothic"/>
          <a:cs typeface="Century Gothic"/>
          <a:sym typeface="Century Gothic"/>
        </a:defRPr>
      </a:lvl9pPr>
    </p:titleStyle>
    <p:bodyStyle>
      <a:lvl1pPr marL="457200" marR="0" indent="-3683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FFFFFF"/>
        </a:buClr>
        <a:buSzPts val="2200"/>
        <a:buFont typeface="Arial"/>
        <a:buChar char="•"/>
        <a:tabLst/>
        <a:defRPr b="0" baseline="0" cap="none" i="0" spc="0" strike="noStrike" sz="2200" u="none">
          <a:solidFill>
            <a:srgbClr val="FFFFFF"/>
          </a:solidFill>
          <a:uFillTx/>
          <a:latin typeface="Century Gothic"/>
          <a:ea typeface="Century Gothic"/>
          <a:cs typeface="Century Gothic"/>
          <a:sym typeface="Century Gothic"/>
        </a:defRPr>
      </a:lvl1pPr>
      <a:lvl2pPr marL="949960" marR="0" indent="-39116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FFFFFF"/>
        </a:buClr>
        <a:buSzPts val="2200"/>
        <a:buFont typeface="Arial"/>
        <a:buChar char="•"/>
        <a:tabLst/>
        <a:defRPr b="0" baseline="0" cap="none" i="0" spc="0" strike="noStrike" sz="2200" u="none">
          <a:solidFill>
            <a:srgbClr val="FFFFFF"/>
          </a:solidFill>
          <a:uFillTx/>
          <a:latin typeface="Century Gothic"/>
          <a:ea typeface="Century Gothic"/>
          <a:cs typeface="Century Gothic"/>
          <a:sym typeface="Century Gothic"/>
        </a:defRPr>
      </a:lvl2pPr>
      <a:lvl3pPr marL="1447800" marR="0" indent="-4191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FFFFFF"/>
        </a:buClr>
        <a:buSzPts val="2200"/>
        <a:buFont typeface="Arial"/>
        <a:buChar char="•"/>
        <a:tabLst/>
        <a:defRPr b="0" baseline="0" cap="none" i="0" spc="0" strike="noStrike" sz="2200" u="none">
          <a:solidFill>
            <a:srgbClr val="FFFFFF"/>
          </a:solidFill>
          <a:uFillTx/>
          <a:latin typeface="Century Gothic"/>
          <a:ea typeface="Century Gothic"/>
          <a:cs typeface="Century Gothic"/>
          <a:sym typeface="Century Gothic"/>
        </a:defRPr>
      </a:lvl3pPr>
      <a:lvl4pPr marL="1952625" marR="0" indent="-454025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FFFFFF"/>
        </a:buClr>
        <a:buSzPts val="2200"/>
        <a:buFont typeface="Arial"/>
        <a:buChar char="•"/>
        <a:tabLst/>
        <a:defRPr b="0" baseline="0" cap="none" i="0" spc="0" strike="noStrike" sz="2200" u="none">
          <a:solidFill>
            <a:srgbClr val="FFFFFF"/>
          </a:solidFill>
          <a:uFillTx/>
          <a:latin typeface="Century Gothic"/>
          <a:ea typeface="Century Gothic"/>
          <a:cs typeface="Century Gothic"/>
          <a:sym typeface="Century Gothic"/>
        </a:defRPr>
      </a:lvl4pPr>
      <a:lvl5pPr marL="2409825" marR="0" indent="-454025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FFFFFF"/>
        </a:buClr>
        <a:buSzPts val="2200"/>
        <a:buFont typeface="Arial"/>
        <a:buChar char="•"/>
        <a:tabLst/>
        <a:defRPr b="0" baseline="0" cap="none" i="0" spc="0" strike="noStrike" sz="2200" u="none">
          <a:solidFill>
            <a:srgbClr val="FFFFFF"/>
          </a:solidFill>
          <a:uFillTx/>
          <a:latin typeface="Century Gothic"/>
          <a:ea typeface="Century Gothic"/>
          <a:cs typeface="Century Gothic"/>
          <a:sym typeface="Century Gothic"/>
        </a:defRPr>
      </a:lvl5pPr>
      <a:lvl6pPr marL="2867025" marR="0" indent="-454025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FFFFFF"/>
        </a:buClr>
        <a:buSzPts val="2200"/>
        <a:buFont typeface="Arial"/>
        <a:buChar char="•"/>
        <a:tabLst/>
        <a:defRPr b="0" baseline="0" cap="none" i="0" spc="0" strike="noStrike" sz="2200" u="none">
          <a:solidFill>
            <a:srgbClr val="FFFFFF"/>
          </a:solidFill>
          <a:uFillTx/>
          <a:latin typeface="Century Gothic"/>
          <a:ea typeface="Century Gothic"/>
          <a:cs typeface="Century Gothic"/>
          <a:sym typeface="Century Gothic"/>
        </a:defRPr>
      </a:lvl6pPr>
      <a:lvl7pPr marL="3324225" marR="0" indent="-454025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FFFFFF"/>
        </a:buClr>
        <a:buSzPts val="2200"/>
        <a:buFont typeface="Arial"/>
        <a:buChar char="•"/>
        <a:tabLst/>
        <a:defRPr b="0" baseline="0" cap="none" i="0" spc="0" strike="noStrike" sz="2200" u="none">
          <a:solidFill>
            <a:srgbClr val="FFFFFF"/>
          </a:solidFill>
          <a:uFillTx/>
          <a:latin typeface="Century Gothic"/>
          <a:ea typeface="Century Gothic"/>
          <a:cs typeface="Century Gothic"/>
          <a:sym typeface="Century Gothic"/>
        </a:defRPr>
      </a:lvl7pPr>
      <a:lvl8pPr marL="3781425" marR="0" indent="-454025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FFFFFF"/>
        </a:buClr>
        <a:buSzPts val="2200"/>
        <a:buFont typeface="Arial"/>
        <a:buChar char="•"/>
        <a:tabLst/>
        <a:defRPr b="0" baseline="0" cap="none" i="0" spc="0" strike="noStrike" sz="2200" u="none">
          <a:solidFill>
            <a:srgbClr val="FFFFFF"/>
          </a:solidFill>
          <a:uFillTx/>
          <a:latin typeface="Century Gothic"/>
          <a:ea typeface="Century Gothic"/>
          <a:cs typeface="Century Gothic"/>
          <a:sym typeface="Century Gothic"/>
        </a:defRPr>
      </a:lvl8pPr>
      <a:lvl9pPr marL="4238625" marR="0" indent="-454025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FFFFFF"/>
        </a:buClr>
        <a:buSzPts val="2200"/>
        <a:buFont typeface="Arial"/>
        <a:buChar char="•"/>
        <a:tabLst/>
        <a:defRPr b="0" baseline="0" cap="none" i="0" spc="0" strike="noStrike" sz="2200" u="none">
          <a:solidFill>
            <a:srgbClr val="FFFFFF"/>
          </a:solidFill>
          <a:uFillTx/>
          <a:latin typeface="Century Gothic"/>
          <a:ea typeface="Century Gothic"/>
          <a:cs typeface="Century Gothic"/>
          <a:sym typeface="Century Gothic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44;p1"/>
          <p:cNvSpPr txBox="1"/>
          <p:nvPr>
            <p:ph type="ctrTitle"/>
          </p:nvPr>
        </p:nvSpPr>
        <p:spPr>
          <a:xfrm>
            <a:off x="1371600" y="1790152"/>
            <a:ext cx="9448800" cy="1825097"/>
          </a:xfrm>
          <a:prstGeom prst="rect">
            <a:avLst/>
          </a:prstGeom>
        </p:spPr>
        <p:txBody>
          <a:bodyPr/>
          <a:lstStyle/>
          <a:p>
            <a:pPr/>
            <a:r>
              <a:t>Green Pace</a:t>
            </a:r>
          </a:p>
        </p:txBody>
      </p:sp>
      <p:sp>
        <p:nvSpPr>
          <p:cNvPr id="196" name="Google Shape;145;p1"/>
          <p:cNvSpPr txBox="1"/>
          <p:nvPr>
            <p:ph type="subTitle" sz="quarter" idx="1"/>
          </p:nvPr>
        </p:nvSpPr>
        <p:spPr>
          <a:xfrm>
            <a:off x="1371600" y="3632200"/>
            <a:ext cx="9448800" cy="1561592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70000"/>
              </a:lnSpc>
              <a:spcBef>
                <a:spcPts val="0"/>
              </a:spcBef>
            </a:pPr>
          </a:p>
        </p:txBody>
      </p:sp>
      <p:pic>
        <p:nvPicPr>
          <p:cNvPr id="197" name="Google Shape;146;p1" descr="Google Shape;146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40773" y="659854"/>
            <a:ext cx="2921425" cy="3786772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TextBox 146"/>
          <p:cNvSpPr txBox="1"/>
          <p:nvPr/>
        </p:nvSpPr>
        <p:spPr>
          <a:xfrm>
            <a:off x="777239" y="6217920"/>
            <a:ext cx="5558196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Security Policy Presentation | Developer: Cory Carter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151;p3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/>
          <a:p>
            <a:pPr/>
            <a:r>
              <a:t>OVERVIEW: DEFENSE IN DEPTH</a:t>
            </a:r>
          </a:p>
        </p:txBody>
      </p:sp>
      <p:sp>
        <p:nvSpPr>
          <p:cNvPr id="201" name="Google Shape;152;p3"/>
          <p:cNvSpPr txBox="1"/>
          <p:nvPr>
            <p:ph type="body" sz="half" idx="1"/>
          </p:nvPr>
        </p:nvSpPr>
        <p:spPr>
          <a:xfrm>
            <a:off x="640079" y="1828800"/>
            <a:ext cx="5303522" cy="4480560"/>
          </a:xfrm>
          <a:prstGeom prst="rect">
            <a:avLst/>
          </a:prstGeom>
        </p:spPr>
        <p:txBody>
          <a:bodyPr/>
          <a:lstStyle/>
          <a:p>
            <a:pPr marL="0" indent="685800">
              <a:spcBef>
                <a:spcPts val="0"/>
              </a:spcBef>
              <a:buSzTx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Goal: standardize the secure-coding habits we already use so every developer applies them the same way.</a:t>
            </a:r>
            <a:endParaRPr sz="1600"/>
          </a:p>
          <a:p>
            <a:pPr marL="342900" indent="-228600">
              <a:buSzTx/>
              <a:buNone/>
            </a:pPr>
            <a:endParaRPr sz="1600"/>
          </a:p>
          <a:p>
            <a:pPr marL="342900" indent="-228600">
              <a:buSzTx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Why we needed it:</a:t>
            </a:r>
          </a:p>
          <a:p>
            <a:pPr marL="342900" indent="-228600">
              <a:buSzTx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Team growth means tribal knowledge won’t scale.</a:t>
            </a:r>
          </a:p>
          <a:p>
            <a:pPr marL="342900" indent="-228600">
              <a:buSzTx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We assume vulnerabilities will happen, so we plan for them.</a:t>
            </a:r>
          </a:p>
          <a:p>
            <a:pPr marL="342900" indent="-228600">
              <a:buSzTx/>
              <a:buNone/>
            </a:pPr>
          </a:p>
          <a:p>
            <a:pPr marL="342900" indent="-228600">
              <a:buSzTx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How it supports defense-in-depth:</a:t>
            </a:r>
          </a:p>
          <a:p>
            <a:pPr marL="342900" indent="-228600">
              <a:buSzTx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Layers in code, CI/build, and runtime monitoring.</a:t>
            </a:r>
          </a:p>
          <a:p>
            <a:pPr marL="342900" indent="-228600">
              <a:buSzTx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External testing (SAST, fuzzing, dependency scans) catches issues early.</a:t>
            </a:r>
          </a:p>
        </p:txBody>
      </p:sp>
      <p:pic>
        <p:nvPicPr>
          <p:cNvPr id="202" name="Google Shape;153;p3" descr="Google Shape;153;p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7920" y="2194560"/>
            <a:ext cx="5486401" cy="32918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Google Shape;154;p3" descr="Google Shape;154;p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84073" y="5440526"/>
            <a:ext cx="886602" cy="11492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159;p4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/>
          <a:p>
            <a:pPr/>
            <a:r>
              <a:t>THREATS MATRIX</a:t>
            </a:r>
          </a:p>
        </p:txBody>
      </p:sp>
      <p:sp>
        <p:nvSpPr>
          <p:cNvPr id="206" name="Google Shape;160;p4"/>
          <p:cNvSpPr txBox="1"/>
          <p:nvPr>
            <p:ph type="body" sz="quarter" idx="1"/>
          </p:nvPr>
        </p:nvSpPr>
        <p:spPr>
          <a:xfrm>
            <a:off x="685800" y="2194549"/>
            <a:ext cx="2486100" cy="4024202"/>
          </a:xfrm>
          <a:prstGeom prst="rect">
            <a:avLst/>
          </a:prstGeom>
        </p:spPr>
        <p:txBody>
          <a:bodyPr/>
          <a:lstStyle/>
          <a:p>
            <a:pPr marL="0" indent="219455" defTabSz="877823">
              <a:lnSpc>
                <a:spcPct val="107916"/>
              </a:lnSpc>
              <a:spcBef>
                <a:spcPts val="0"/>
              </a:spcBef>
              <a:buSzTx/>
              <a:buNone/>
              <a:defRPr sz="1536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matrix shows how we prioritize our 10 Green Pace coding standards (GP-CS-01 to GP-CS-10) based on likelihood and impact. High-priority items are addressed first (design + implementation + tests).</a:t>
            </a:r>
          </a:p>
          <a:p>
            <a:pPr marL="349134" indent="-239406" defTabSz="877823">
              <a:lnSpc>
                <a:spcPct val="107916"/>
              </a:lnSpc>
              <a:spcBef>
                <a:spcPts val="0"/>
              </a:spcBef>
              <a:buSzPts val="1500"/>
              <a:defRPr sz="1536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49134" indent="-239406" defTabSz="877823">
              <a:lnSpc>
                <a:spcPct val="107916"/>
              </a:lnSpc>
              <a:spcBef>
                <a:spcPts val="0"/>
              </a:spcBef>
              <a:buSzPts val="1500"/>
              <a:defRPr sz="1536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Automation note: We use CI security gates (compiler warnings, static analysis, unit tests, and dependency scanning) to detect these issues early and consistently.</a:t>
            </a:r>
          </a:p>
        </p:txBody>
      </p:sp>
      <p:graphicFrame>
        <p:nvGraphicFramePr>
          <p:cNvPr id="207" name="Google Shape;161;p4"/>
          <p:cNvGraphicFramePr/>
          <p:nvPr/>
        </p:nvGraphicFramePr>
        <p:xfrm>
          <a:off x="3171899" y="2561050"/>
          <a:ext cx="7835226" cy="3538650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4030425"/>
                <a:gridCol w="3804800"/>
              </a:tblGrid>
              <a:tr h="17693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Likely + Priority
GP-CS-01, GP-CS-02, GP-CS-03, GP-CS-04</a:t>
                      </a:r>
                    </a:p>
                  </a:txBody>
                  <a:tcPr marL="91425" marR="91425" marT="91425" marB="91425" anchor="t" anchorCtr="0" horzOverflow="overflow">
                    <a:lnL w="28575">
                      <a:solidFill>
                        <a:srgbClr val="9E9E9E"/>
                      </a:solidFill>
                    </a:lnL>
                    <a:lnR w="28575">
                      <a:solidFill>
                        <a:srgbClr val="9E9E9E"/>
                      </a:solidFill>
                    </a:lnR>
                    <a:lnT w="28575">
                      <a:solidFill>
                        <a:srgbClr val="9E9E9E"/>
                      </a:solidFill>
                    </a:lnT>
                    <a:lnB w="28575">
                      <a:solidFill>
                        <a:srgbClr val="9E9E9E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Likely + Low priority
GP-CS-05, GP-CS-07</a:t>
                      </a:r>
                    </a:p>
                  </a:txBody>
                  <a:tcPr marL="91425" marR="91425" marT="91425" marB="91425" anchor="t" anchorCtr="0" horzOverflow="overflow">
                    <a:lnL w="28575">
                      <a:solidFill>
                        <a:srgbClr val="9E9E9E"/>
                      </a:solidFill>
                    </a:lnL>
                    <a:lnR w="28575">
                      <a:solidFill>
                        <a:srgbClr val="9E9E9E"/>
                      </a:solidFill>
                    </a:lnR>
                    <a:lnT w="28575">
                      <a:solidFill>
                        <a:srgbClr val="9E9E9E"/>
                      </a:solidFill>
                    </a:lnT>
                    <a:lnB w="28575">
                      <a:solidFill>
                        <a:srgbClr val="9E9E9E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17693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Unlikely + Priority
GP-CS-06, GP-CS-08</a:t>
                      </a:r>
                    </a:p>
                  </a:txBody>
                  <a:tcPr marL="91425" marR="91425" marT="91425" marB="91425" anchor="t" anchorCtr="0" horzOverflow="overflow">
                    <a:lnL w="28575">
                      <a:solidFill>
                        <a:srgbClr val="9E9E9E"/>
                      </a:solidFill>
                    </a:lnL>
                    <a:lnR w="28575">
                      <a:solidFill>
                        <a:srgbClr val="9E9E9E"/>
                      </a:solidFill>
                    </a:lnR>
                    <a:lnT w="28575">
                      <a:solidFill>
                        <a:srgbClr val="9E9E9E"/>
                      </a:solidFill>
                    </a:lnT>
                    <a:lnB w="28575">
                      <a:solidFill>
                        <a:srgbClr val="9E9E9E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Unlikely + Low priority
GP-CS-09, GP-CS-10</a:t>
                      </a:r>
                    </a:p>
                  </a:txBody>
                  <a:tcPr marL="91425" marR="91425" marT="91425" marB="91425" anchor="t" anchorCtr="0" horzOverflow="overflow">
                    <a:lnL w="28575">
                      <a:solidFill>
                        <a:srgbClr val="9E9E9E"/>
                      </a:solidFill>
                    </a:lnL>
                    <a:lnR w="28575">
                      <a:solidFill>
                        <a:srgbClr val="9E9E9E"/>
                      </a:solidFill>
                    </a:lnR>
                    <a:lnT w="28575">
                      <a:solidFill>
                        <a:srgbClr val="9E9E9E"/>
                      </a:solidFill>
                    </a:lnT>
                    <a:lnB w="28575">
                      <a:solidFill>
                        <a:srgbClr val="9E9E9E"/>
                      </a:solidFill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pic>
        <p:nvPicPr>
          <p:cNvPr id="208" name="Google Shape;162;p4" descr="Google Shape;162;p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084073" y="5440526"/>
            <a:ext cx="886602" cy="11492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167;p5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/>
          <a:p>
            <a:pPr/>
            <a:r>
              <a:t>10 PRINCIPLES</a:t>
            </a:r>
          </a:p>
        </p:txBody>
      </p:sp>
      <p:sp>
        <p:nvSpPr>
          <p:cNvPr id="211" name="Google Shape;168;p5"/>
          <p:cNvSpPr txBox="1"/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10 guiding principles (with related coding standards):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P1 Assume vulnerability → GP-CS-10, CS-05, CS-08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P2 Minimize attack surface → GP-CS-09, CS-04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P3 Defense in depth → GP-CS-10, CS-08, CS-05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P4 Least privilege → GP-CS-04, CS-09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P5 Secure by default → GP-CS-09, CS-07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P6 Validate input / protect boundaries → GP-CS-01, CS-02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P7 Fail securely → GP-CS-05, CS-01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P8 Protect secrets &amp; keys → GP-CS-07, CS-06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P9 Monitor, log, and respond → GP-CS-05, CS-10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P10 Continuous improvement → GP-CS-08, CS-10</a:t>
            </a:r>
          </a:p>
        </p:txBody>
      </p:sp>
      <p:pic>
        <p:nvPicPr>
          <p:cNvPr id="212" name="Google Shape;169;p5" descr="Google Shape;169;p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084073" y="5440526"/>
            <a:ext cx="886602" cy="11492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174;p6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/>
          <a:p>
            <a:pPr/>
            <a:r>
              <a:t>CODING STANDARDS</a:t>
            </a:r>
          </a:p>
        </p:txBody>
      </p:sp>
      <p:sp>
        <p:nvSpPr>
          <p:cNvPr id="215" name="Google Shape;175;p6"/>
          <p:cNvSpPr txBox="1"/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/>
          <a:p>
            <a:pPr marL="221742" indent="-221742" defTabSz="886968">
              <a:spcBef>
                <a:spcPts val="0"/>
              </a:spcBef>
              <a:buSzTx/>
              <a:buNone/>
              <a:defRPr sz="155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Priority order (based on likelihood × impact, plus exploitability and cost-to-fix):</a:t>
            </a:r>
          </a:p>
          <a:p>
            <a:pPr marL="332613" indent="-221742" defTabSz="886968">
              <a:spcBef>
                <a:spcPts val="900"/>
              </a:spcBef>
              <a:buSzTx/>
              <a:buNone/>
              <a:defRPr sz="2134"/>
            </a:pPr>
          </a:p>
          <a:p>
            <a:pPr marL="332613" indent="-221742" defTabSz="886968">
              <a:spcBef>
                <a:spcPts val="900"/>
              </a:spcBef>
              <a:buSzTx/>
              <a:buNone/>
              <a:defRPr sz="155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1. GP-CS-02 Memory-safe C++ - Bounds checks, avoid unsafe functions, use RAII, enable sanitizers.</a:t>
            </a:r>
          </a:p>
          <a:p>
            <a:pPr marL="332613" indent="-221742" defTabSz="886968">
              <a:spcBef>
                <a:spcPts val="900"/>
              </a:spcBef>
              <a:buSzTx/>
              <a:buNone/>
              <a:defRPr sz="155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2. GP-CS-01 Validate &amp; sanitize input - Central validation helpers, allow-lists, normalize before use.</a:t>
            </a:r>
          </a:p>
          <a:p>
            <a:pPr marL="332613" indent="-221742" defTabSz="886968">
              <a:spcBef>
                <a:spcPts val="900"/>
              </a:spcBef>
              <a:buSzTx/>
              <a:buNone/>
              <a:defRPr sz="155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3. GP-CS-03 Authentication &amp; credential handling - MFA where possible; strong hashing (salted) and lockouts.</a:t>
            </a:r>
          </a:p>
          <a:p>
            <a:pPr marL="332613" indent="-221742" defTabSz="886968">
              <a:spcBef>
                <a:spcPts val="900"/>
              </a:spcBef>
              <a:buSzTx/>
              <a:buNone/>
              <a:defRPr sz="155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4. GP-CS-04 Authorization for every sensitive action - RBAC/ABAC, server-side checks, deny by default.</a:t>
            </a:r>
          </a:p>
          <a:p>
            <a:pPr marL="332613" indent="-221742" defTabSz="886968">
              <a:spcBef>
                <a:spcPts val="900"/>
              </a:spcBef>
              <a:buSzTx/>
              <a:buNone/>
              <a:defRPr sz="155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5. GP-CS-07 Secrets management - No hardcoded secrets; use vault/env; rotate and limit scope.</a:t>
            </a:r>
          </a:p>
          <a:p>
            <a:pPr marL="332613" indent="-221742" defTabSz="886968">
              <a:spcBef>
                <a:spcPts val="900"/>
              </a:spcBef>
              <a:buSzTx/>
              <a:buNone/>
              <a:defRPr sz="155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6. GP-CS-06 Approved crypto &amp; key management - TLS in flight; encrypt at rest; use vetted libraries only.</a:t>
            </a:r>
          </a:p>
          <a:p>
            <a:pPr marL="332613" indent="-221742" defTabSz="886968">
              <a:spcBef>
                <a:spcPts val="900"/>
              </a:spcBef>
              <a:buSzTx/>
              <a:buNone/>
              <a:defRPr sz="155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7. GP-CS-05 Safe errors &amp; secure logging - No sensitive data in errors/logs; consistent messages; audit trails.</a:t>
            </a:r>
          </a:p>
          <a:p>
            <a:pPr marL="332613" indent="-221742" defTabSz="886968">
              <a:spcBef>
                <a:spcPts val="900"/>
              </a:spcBef>
              <a:buSzTx/>
              <a:buNone/>
              <a:defRPr sz="155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8. GP-CS-08 Dependency/build hardening - SCA, pinned versions, compiler warnings as errors, secure flags.</a:t>
            </a:r>
          </a:p>
          <a:p>
            <a:pPr marL="332613" indent="-221742" defTabSz="886968">
              <a:spcBef>
                <a:spcPts val="900"/>
              </a:spcBef>
              <a:buSzTx/>
              <a:buNone/>
              <a:defRPr sz="155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9. GP-CS-09 Secure configuration &amp; resilience - Disable debug in prod, rate limits, safe defaults, minimal ports.</a:t>
            </a:r>
          </a:p>
          <a:p>
            <a:pPr marL="332613" indent="-221742" defTabSz="886968">
              <a:spcBef>
                <a:spcPts val="900"/>
              </a:spcBef>
              <a:buSzTx/>
              <a:buNone/>
              <a:defRPr sz="155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10. GP-CS-10 Testing &amp; reviews as a gate - Code reviews, unit tests, fuzzing, and SAST/DAST in CI.</a:t>
            </a:r>
          </a:p>
        </p:txBody>
      </p:sp>
      <p:pic>
        <p:nvPicPr>
          <p:cNvPr id="216" name="Google Shape;176;p6" descr="Google Shape;176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084073" y="5440526"/>
            <a:ext cx="886602" cy="11492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181;p7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/>
          <a:p>
            <a:pPr/>
            <a:r>
              <a:t>ENCRYPTION POLICIES</a:t>
            </a:r>
          </a:p>
        </p:txBody>
      </p:sp>
      <p:sp>
        <p:nvSpPr>
          <p:cNvPr id="219" name="Google Shape;182;p7"/>
          <p:cNvSpPr txBox="1"/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Encryption in flight: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TLS 1.2+ (prefer TLS 1.3); HSTS for web endpoints; mutual TLS between internal services when feasible.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Encryption at rest: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Encrypt databases, backups, and file storage (AES-256 via platform-managed encryption). Keys stored in a vault/KMS.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Encryption in use: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Minimize sensitive data in memory; zeroize buffers after use; avoid logging secrets; protect keys with least privilege.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Policy rules: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Use approved libraries only (no custom crypto). Rotate keys, set expiration, and log key-access events.</a:t>
            </a:r>
          </a:p>
        </p:txBody>
      </p:sp>
      <p:pic>
        <p:nvPicPr>
          <p:cNvPr id="220" name="Google Shape;183;p7" descr="Google Shape;183;p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084073" y="5440526"/>
            <a:ext cx="886602" cy="11492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188;p8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/>
          <a:p>
            <a:pPr/>
            <a:r>
              <a:t>TRIPLE-A POLICIES</a:t>
            </a:r>
          </a:p>
        </p:txBody>
      </p:sp>
      <p:sp>
        <p:nvSpPr>
          <p:cNvPr id="223" name="Google Shape;189;p8"/>
          <p:cNvSpPr txBox="1"/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Authentication: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Strong passwords + salted hashing; MFA for admin/high-risk actions; rate limit + lockout for brute force.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Authorization: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RBAC with least privilege; server-side permission checks on every sensitive endpoint; separation of duties.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Accounting (auditing):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Central audit logs for auth events, admin actions, and data access. Logs are tamper-resistant and monitored (alerts).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Operational rule: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If an action changes data or permissions, it must be authenticated, authorized, and logged.</a:t>
            </a:r>
          </a:p>
        </p:txBody>
      </p:sp>
      <p:pic>
        <p:nvPicPr>
          <p:cNvPr id="224" name="Google Shape;190;p8" descr="Google Shape;190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084073" y="5440526"/>
            <a:ext cx="886602" cy="11492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195;g9504e29505_0_0"/>
          <p:cNvSpPr txBox="1"/>
          <p:nvPr>
            <p:ph type="title"/>
          </p:nvPr>
        </p:nvSpPr>
        <p:spPr>
          <a:xfrm>
            <a:off x="2895600" y="764373"/>
            <a:ext cx="8610600" cy="1293000"/>
          </a:xfrm>
          <a:prstGeom prst="rect">
            <a:avLst/>
          </a:prstGeom>
        </p:spPr>
        <p:txBody>
          <a:bodyPr/>
          <a:lstStyle>
            <a:lvl1pPr algn="l"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UT1: Does username validation reject overly long input?</a:t>
            </a:r>
          </a:p>
        </p:txBody>
      </p:sp>
      <p:sp>
        <p:nvSpPr>
          <p:cNvPr id="227" name="Google Shape;196;g9504e29505_0_0"/>
          <p:cNvSpPr txBox="1"/>
          <p:nvPr>
            <p:ph type="body" idx="1"/>
          </p:nvPr>
        </p:nvSpPr>
        <p:spPr>
          <a:xfrm>
            <a:off x="685800" y="2194559"/>
            <a:ext cx="10820400" cy="402420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Vulnerability: buffer overflow / denial-of-service from unbounded input (GP-CS-02, GP-CS-01)</a:t>
            </a:r>
          </a:p>
          <a:p>
            <a:pPr marL="363681" indent="-249381"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Positive tests: normal length is accepted</a:t>
            </a:r>
          </a:p>
          <a:p>
            <a:pPr marL="363681" indent="-249381"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Negative tests: 5,000-char string is rejected</a:t>
            </a:r>
          </a:p>
          <a:p>
            <a:pPr marL="363681" indent="-249381"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further: add fuzz tests + run with AddressSanitizer in CI</a:t>
            </a:r>
          </a:p>
        </p:txBody>
      </p:sp>
      <p:pic>
        <p:nvPicPr>
          <p:cNvPr id="228" name="Google Shape;197;g9504e29505_0_0" descr="Google Shape;197;g9504e29505_0_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084073" y="5440526"/>
            <a:ext cx="886602" cy="11492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icture 197" descr="Picture 19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17920" y="3017520"/>
            <a:ext cx="5669280" cy="31954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itle 1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>
            <a:lvl1pPr algn="l"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UT5: Does the rate limiter throttle repeated failed logins?</a:t>
            </a:r>
          </a:p>
        </p:txBody>
      </p:sp>
      <p:sp>
        <p:nvSpPr>
          <p:cNvPr id="232" name="Text Placeholder 2"/>
          <p:cNvSpPr txBox="1"/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/>
          <a:p>
            <a:pPr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Vulnerability: brute force and account takeover (GP-CS-03, GP-CS-09)</a:t>
            </a:r>
          </a:p>
          <a:p>
            <a:pPr marL="363681" indent="-249381"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Positive tests: first attempts allowed</a:t>
            </a:r>
          </a:p>
          <a:p>
            <a:pPr marL="363681" indent="-249381"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Negative tests: after threshold, login attempts are denied</a:t>
            </a:r>
          </a:p>
          <a:p>
            <a:pPr marL="363681" indent="-249381"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further: add IP + user-based limits and alert on spikes</a:t>
            </a:r>
          </a:p>
        </p:txBody>
      </p:sp>
      <p:pic>
        <p:nvPicPr>
          <p:cNvPr id="23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7920" y="3017520"/>
            <a:ext cx="5669280" cy="31954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itle 1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>
            <a:lvl1pPr algn="l"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UT4: Are secrets redacted before logging?</a:t>
            </a:r>
          </a:p>
        </p:txBody>
      </p:sp>
      <p:sp>
        <p:nvSpPr>
          <p:cNvPr id="236" name="Text Placeholder 2"/>
          <p:cNvSpPr txBox="1"/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/>
          <a:p>
            <a:pPr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Vulnerability: sensitive data exposure (GP-CS-05, GP-CS-07)</a:t>
            </a:r>
          </a:p>
          <a:p>
            <a:pPr marL="363681" indent="-249381"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Positive tests: normal messages unchanged</a:t>
            </a:r>
          </a:p>
          <a:p>
            <a:pPr marL="363681" indent="-249381"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Negative tests: API_KEY and tokens are redacted</a:t>
            </a:r>
          </a:p>
          <a:p>
            <a:pPr marL="363681" indent="-249381"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further: add log-scanning automation to fail builds on leaked secrets</a:t>
            </a:r>
          </a:p>
        </p:txBody>
      </p:sp>
      <p:pic>
        <p:nvPicPr>
          <p:cNvPr id="23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7920" y="3017520"/>
            <a:ext cx="5669280" cy="31954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itle 1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>
            <a:lvl1pPr algn="l"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UT3: Do non-admin users get blocked from admin actions?</a:t>
            </a:r>
          </a:p>
        </p:txBody>
      </p:sp>
      <p:sp>
        <p:nvSpPr>
          <p:cNvPr id="240" name="Text Placeholder 2"/>
          <p:cNvSpPr txBox="1"/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/>
          <a:p>
            <a:pPr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Vulnerability: broken access control (GP-CS-04)</a:t>
            </a:r>
          </a:p>
          <a:p>
            <a:pPr marL="363681" indent="-249381"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Positive tests: admin role can perform action</a:t>
            </a:r>
          </a:p>
          <a:p>
            <a:pPr marL="363681" indent="-249381"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Negative tests: standard role is denied</a:t>
            </a:r>
          </a:p>
          <a:p>
            <a:pPr marL="363681" indent="-249381"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further: add tests per endpoint + verify server-side enforcement</a:t>
            </a:r>
          </a:p>
        </p:txBody>
      </p:sp>
      <p:pic>
        <p:nvPicPr>
          <p:cNvPr id="24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7920" y="3017520"/>
            <a:ext cx="5669280" cy="31954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itle 1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>
            <a:lvl1pPr algn="l"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UT2: Does path handling block '../' traversal?</a:t>
            </a:r>
          </a:p>
        </p:txBody>
      </p:sp>
      <p:sp>
        <p:nvSpPr>
          <p:cNvPr id="244" name="Text Placeholder 2"/>
          <p:cNvSpPr txBox="1"/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/>
          <a:p>
            <a:pPr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Vulnerability: path traversal / unauthorized file access (GP-CS-01, GP-CS-04)</a:t>
            </a:r>
          </a:p>
          <a:p>
            <a:pPr marL="363681" indent="-249381"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Positive tests: valid relative path accepted</a:t>
            </a:r>
          </a:p>
          <a:p>
            <a:pPr marL="363681" indent="-249381"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Negative tests: '../../' throws error or returns false</a:t>
            </a:r>
          </a:p>
          <a:p>
            <a:pPr marL="363681" indent="-249381"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further: normalize paths + allow-list base directories</a:t>
            </a:r>
          </a:p>
        </p:txBody>
      </p:sp>
      <p:pic>
        <p:nvPicPr>
          <p:cNvPr id="24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7920" y="3017520"/>
            <a:ext cx="5669280" cy="31954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218"/>
          <p:cNvSpPr/>
          <p:nvPr/>
        </p:nvSpPr>
        <p:spPr>
          <a:xfrm>
            <a:off x="457199" y="1005839"/>
            <a:ext cx="6035042" cy="141732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Google Shape;202;p9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/>
          <a:p>
            <a:pPr/>
            <a:r>
              <a:t>AUTOMATION SUMMARY</a:t>
            </a:r>
          </a:p>
        </p:txBody>
      </p:sp>
      <p:pic>
        <p:nvPicPr>
          <p:cNvPr id="249" name="Google Shape;203;p9" descr="Google Shape;203;p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27250" y="2199481"/>
            <a:ext cx="7937500" cy="401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Google Shape;204;p9" descr="Google Shape;204;p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84073" y="5440526"/>
            <a:ext cx="886602" cy="1149226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TextBox 204"/>
          <p:cNvSpPr txBox="1"/>
          <p:nvPr/>
        </p:nvSpPr>
        <p:spPr>
          <a:xfrm>
            <a:off x="594359" y="1051560"/>
            <a:ext cx="5760722" cy="130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Where security automation lives in our DevSecOps flow:</a:t>
            </a:r>
          </a:p>
          <a:p>
            <a:pPr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Code: pre-commit hooks + secret scanning</a:t>
            </a:r>
          </a:p>
          <a:p>
            <a:pPr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Build: compiler warnings-as-errors + static analysis (clang-tidy/cppcheck)</a:t>
            </a:r>
          </a:p>
          <a:p>
            <a:pPr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Test: unit tests + sanitizers + fuzzing</a:t>
            </a:r>
          </a:p>
          <a:p>
            <a:pPr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Package/Deploy: dependency scanning + config checks</a:t>
            </a:r>
          </a:p>
          <a:p>
            <a:pPr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Operate: monitoring + alerting + incident response playbooks</a:t>
            </a:r>
          </a:p>
        </p:txBody>
      </p:sp>
      <p:grpSp>
        <p:nvGrpSpPr>
          <p:cNvPr id="254" name="Rounded Rectangle 205"/>
          <p:cNvGrpSpPr/>
          <p:nvPr/>
        </p:nvGrpSpPr>
        <p:grpSpPr>
          <a:xfrm>
            <a:off x="548640" y="2743200"/>
            <a:ext cx="1348740" cy="548641"/>
            <a:chOff x="0" y="0"/>
            <a:chExt cx="1348739" cy="548640"/>
          </a:xfrm>
        </p:grpSpPr>
        <p:sp>
          <p:nvSpPr>
            <p:cNvPr id="252" name="Rounded Rectangle"/>
            <p:cNvSpPr/>
            <p:nvPr/>
          </p:nvSpPr>
          <p:spPr>
            <a:xfrm>
              <a:off x="0" y="0"/>
              <a:ext cx="1348740" cy="548641"/>
            </a:xfrm>
            <a:prstGeom prst="roundRect">
              <a:avLst>
                <a:gd name="adj" fmla="val 16667"/>
              </a:avLst>
            </a:prstGeom>
            <a:solidFill>
              <a:srgbClr val="E6F2FF"/>
            </a:solidFill>
            <a:ln w="9525" cap="flat">
              <a:solidFill>
                <a:srgbClr val="3C5A8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3" name="Plan"/>
            <p:cNvSpPr txBox="1"/>
            <p:nvPr/>
          </p:nvSpPr>
          <p:spPr>
            <a:xfrm>
              <a:off x="77264" y="130776"/>
              <a:ext cx="1194212" cy="287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Plan</a:t>
              </a:r>
            </a:p>
          </p:txBody>
        </p:sp>
      </p:grpSp>
      <p:grpSp>
        <p:nvGrpSpPr>
          <p:cNvPr id="257" name="Rounded Rectangle 206"/>
          <p:cNvGrpSpPr/>
          <p:nvPr/>
        </p:nvGrpSpPr>
        <p:grpSpPr>
          <a:xfrm>
            <a:off x="1943100" y="2743200"/>
            <a:ext cx="1348740" cy="548641"/>
            <a:chOff x="0" y="0"/>
            <a:chExt cx="1348739" cy="548640"/>
          </a:xfrm>
        </p:grpSpPr>
        <p:sp>
          <p:nvSpPr>
            <p:cNvPr id="255" name="Rounded Rectangle"/>
            <p:cNvSpPr/>
            <p:nvPr/>
          </p:nvSpPr>
          <p:spPr>
            <a:xfrm>
              <a:off x="0" y="0"/>
              <a:ext cx="1348740" cy="548641"/>
            </a:xfrm>
            <a:prstGeom prst="roundRect">
              <a:avLst>
                <a:gd name="adj" fmla="val 16667"/>
              </a:avLst>
            </a:prstGeom>
            <a:solidFill>
              <a:srgbClr val="E6F2FF"/>
            </a:solidFill>
            <a:ln w="9525" cap="flat">
              <a:solidFill>
                <a:srgbClr val="3C5A8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6" name="Code"/>
            <p:cNvSpPr txBox="1"/>
            <p:nvPr/>
          </p:nvSpPr>
          <p:spPr>
            <a:xfrm>
              <a:off x="77264" y="130776"/>
              <a:ext cx="1194212" cy="287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Code</a:t>
              </a:r>
            </a:p>
          </p:txBody>
        </p:sp>
      </p:grpSp>
      <p:grpSp>
        <p:nvGrpSpPr>
          <p:cNvPr id="260" name="Rounded Rectangle 207"/>
          <p:cNvGrpSpPr/>
          <p:nvPr/>
        </p:nvGrpSpPr>
        <p:grpSpPr>
          <a:xfrm>
            <a:off x="3337559" y="2743200"/>
            <a:ext cx="1348741" cy="548641"/>
            <a:chOff x="0" y="0"/>
            <a:chExt cx="1348739" cy="548640"/>
          </a:xfrm>
        </p:grpSpPr>
        <p:sp>
          <p:nvSpPr>
            <p:cNvPr id="258" name="Rounded Rectangle"/>
            <p:cNvSpPr/>
            <p:nvPr/>
          </p:nvSpPr>
          <p:spPr>
            <a:xfrm>
              <a:off x="0" y="0"/>
              <a:ext cx="1348740" cy="548641"/>
            </a:xfrm>
            <a:prstGeom prst="roundRect">
              <a:avLst>
                <a:gd name="adj" fmla="val 16667"/>
              </a:avLst>
            </a:prstGeom>
            <a:solidFill>
              <a:srgbClr val="E6F2FF"/>
            </a:solidFill>
            <a:ln w="9525" cap="flat">
              <a:solidFill>
                <a:srgbClr val="3C5A8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9" name="Build"/>
            <p:cNvSpPr txBox="1"/>
            <p:nvPr/>
          </p:nvSpPr>
          <p:spPr>
            <a:xfrm>
              <a:off x="77264" y="130776"/>
              <a:ext cx="1194212" cy="287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Build</a:t>
              </a:r>
            </a:p>
          </p:txBody>
        </p:sp>
      </p:grpSp>
      <p:grpSp>
        <p:nvGrpSpPr>
          <p:cNvPr id="263" name="Rounded Rectangle 208"/>
          <p:cNvGrpSpPr/>
          <p:nvPr/>
        </p:nvGrpSpPr>
        <p:grpSpPr>
          <a:xfrm>
            <a:off x="4732020" y="2743200"/>
            <a:ext cx="1348741" cy="548641"/>
            <a:chOff x="0" y="0"/>
            <a:chExt cx="1348739" cy="548640"/>
          </a:xfrm>
        </p:grpSpPr>
        <p:sp>
          <p:nvSpPr>
            <p:cNvPr id="261" name="Rounded Rectangle"/>
            <p:cNvSpPr/>
            <p:nvPr/>
          </p:nvSpPr>
          <p:spPr>
            <a:xfrm>
              <a:off x="0" y="0"/>
              <a:ext cx="1348740" cy="548641"/>
            </a:xfrm>
            <a:prstGeom prst="roundRect">
              <a:avLst>
                <a:gd name="adj" fmla="val 16667"/>
              </a:avLst>
            </a:prstGeom>
            <a:solidFill>
              <a:srgbClr val="E6F2FF"/>
            </a:solidFill>
            <a:ln w="9525" cap="flat">
              <a:solidFill>
                <a:srgbClr val="3C5A8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2" name="Test"/>
            <p:cNvSpPr txBox="1"/>
            <p:nvPr/>
          </p:nvSpPr>
          <p:spPr>
            <a:xfrm>
              <a:off x="77264" y="130776"/>
              <a:ext cx="1194212" cy="287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Test</a:t>
              </a:r>
            </a:p>
          </p:txBody>
        </p:sp>
      </p:grpSp>
      <p:grpSp>
        <p:nvGrpSpPr>
          <p:cNvPr id="266" name="Rounded Rectangle 209"/>
          <p:cNvGrpSpPr/>
          <p:nvPr/>
        </p:nvGrpSpPr>
        <p:grpSpPr>
          <a:xfrm>
            <a:off x="6126479" y="2743200"/>
            <a:ext cx="1348741" cy="548641"/>
            <a:chOff x="0" y="0"/>
            <a:chExt cx="1348739" cy="548640"/>
          </a:xfrm>
        </p:grpSpPr>
        <p:sp>
          <p:nvSpPr>
            <p:cNvPr id="264" name="Rounded Rectangle"/>
            <p:cNvSpPr/>
            <p:nvPr/>
          </p:nvSpPr>
          <p:spPr>
            <a:xfrm>
              <a:off x="0" y="0"/>
              <a:ext cx="1348740" cy="548641"/>
            </a:xfrm>
            <a:prstGeom prst="roundRect">
              <a:avLst>
                <a:gd name="adj" fmla="val 16667"/>
              </a:avLst>
            </a:prstGeom>
            <a:solidFill>
              <a:srgbClr val="E6F2FF"/>
            </a:solidFill>
            <a:ln w="9525" cap="flat">
              <a:solidFill>
                <a:srgbClr val="3C5A8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5" name="Package"/>
            <p:cNvSpPr txBox="1"/>
            <p:nvPr/>
          </p:nvSpPr>
          <p:spPr>
            <a:xfrm>
              <a:off x="77264" y="130776"/>
              <a:ext cx="1194212" cy="287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Package</a:t>
              </a:r>
            </a:p>
          </p:txBody>
        </p:sp>
      </p:grpSp>
      <p:grpSp>
        <p:nvGrpSpPr>
          <p:cNvPr id="269" name="Rounded Rectangle 210"/>
          <p:cNvGrpSpPr/>
          <p:nvPr/>
        </p:nvGrpSpPr>
        <p:grpSpPr>
          <a:xfrm>
            <a:off x="7520940" y="2743200"/>
            <a:ext cx="1348741" cy="548641"/>
            <a:chOff x="0" y="0"/>
            <a:chExt cx="1348739" cy="548640"/>
          </a:xfrm>
        </p:grpSpPr>
        <p:sp>
          <p:nvSpPr>
            <p:cNvPr id="267" name="Rounded Rectangle"/>
            <p:cNvSpPr/>
            <p:nvPr/>
          </p:nvSpPr>
          <p:spPr>
            <a:xfrm>
              <a:off x="0" y="0"/>
              <a:ext cx="1348740" cy="548641"/>
            </a:xfrm>
            <a:prstGeom prst="roundRect">
              <a:avLst>
                <a:gd name="adj" fmla="val 16667"/>
              </a:avLst>
            </a:prstGeom>
            <a:solidFill>
              <a:srgbClr val="E6F2FF"/>
            </a:solidFill>
            <a:ln w="9525" cap="flat">
              <a:solidFill>
                <a:srgbClr val="3C5A8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8" name="Release"/>
            <p:cNvSpPr txBox="1"/>
            <p:nvPr/>
          </p:nvSpPr>
          <p:spPr>
            <a:xfrm>
              <a:off x="77264" y="130776"/>
              <a:ext cx="1194212" cy="287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Release</a:t>
              </a:r>
            </a:p>
          </p:txBody>
        </p:sp>
      </p:grpSp>
      <p:grpSp>
        <p:nvGrpSpPr>
          <p:cNvPr id="272" name="Rounded Rectangle 211"/>
          <p:cNvGrpSpPr/>
          <p:nvPr/>
        </p:nvGrpSpPr>
        <p:grpSpPr>
          <a:xfrm>
            <a:off x="8915400" y="2743200"/>
            <a:ext cx="1348740" cy="548641"/>
            <a:chOff x="0" y="0"/>
            <a:chExt cx="1348739" cy="548640"/>
          </a:xfrm>
        </p:grpSpPr>
        <p:sp>
          <p:nvSpPr>
            <p:cNvPr id="270" name="Rounded Rectangle"/>
            <p:cNvSpPr/>
            <p:nvPr/>
          </p:nvSpPr>
          <p:spPr>
            <a:xfrm>
              <a:off x="0" y="0"/>
              <a:ext cx="1348740" cy="548641"/>
            </a:xfrm>
            <a:prstGeom prst="roundRect">
              <a:avLst>
                <a:gd name="adj" fmla="val 16667"/>
              </a:avLst>
            </a:prstGeom>
            <a:solidFill>
              <a:srgbClr val="E6F2FF"/>
            </a:solidFill>
            <a:ln w="9525" cap="flat">
              <a:solidFill>
                <a:srgbClr val="3C5A8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1" name="Deploy"/>
            <p:cNvSpPr txBox="1"/>
            <p:nvPr/>
          </p:nvSpPr>
          <p:spPr>
            <a:xfrm>
              <a:off x="77264" y="130776"/>
              <a:ext cx="1194212" cy="287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Deploy</a:t>
              </a:r>
            </a:p>
          </p:txBody>
        </p:sp>
      </p:grpSp>
      <p:grpSp>
        <p:nvGrpSpPr>
          <p:cNvPr id="275" name="Rounded Rectangle 212"/>
          <p:cNvGrpSpPr/>
          <p:nvPr/>
        </p:nvGrpSpPr>
        <p:grpSpPr>
          <a:xfrm>
            <a:off x="10309859" y="2743200"/>
            <a:ext cx="1348741" cy="548641"/>
            <a:chOff x="0" y="0"/>
            <a:chExt cx="1348739" cy="548640"/>
          </a:xfrm>
        </p:grpSpPr>
        <p:sp>
          <p:nvSpPr>
            <p:cNvPr id="273" name="Rounded Rectangle"/>
            <p:cNvSpPr/>
            <p:nvPr/>
          </p:nvSpPr>
          <p:spPr>
            <a:xfrm>
              <a:off x="0" y="0"/>
              <a:ext cx="1348740" cy="548641"/>
            </a:xfrm>
            <a:prstGeom prst="roundRect">
              <a:avLst>
                <a:gd name="adj" fmla="val 16667"/>
              </a:avLst>
            </a:prstGeom>
            <a:solidFill>
              <a:srgbClr val="E6F2FF"/>
            </a:solidFill>
            <a:ln w="9525" cap="flat">
              <a:solidFill>
                <a:srgbClr val="3C5A8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4" name="Monitor"/>
            <p:cNvSpPr txBox="1"/>
            <p:nvPr/>
          </p:nvSpPr>
          <p:spPr>
            <a:xfrm>
              <a:off x="77264" y="130776"/>
              <a:ext cx="1194212" cy="287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Monitor</a:t>
              </a:r>
            </a:p>
          </p:txBody>
        </p:sp>
      </p:grpSp>
      <p:sp>
        <p:nvSpPr>
          <p:cNvPr id="276" name="TextBox 213"/>
          <p:cNvSpPr txBox="1"/>
          <p:nvPr/>
        </p:nvSpPr>
        <p:spPr>
          <a:xfrm>
            <a:off x="4759959" y="3337559"/>
            <a:ext cx="2733041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→   →   →   →   →   →   →</a:t>
            </a:r>
          </a:p>
        </p:txBody>
      </p:sp>
      <p:grpSp>
        <p:nvGrpSpPr>
          <p:cNvPr id="279" name="Rectangle 214"/>
          <p:cNvGrpSpPr/>
          <p:nvPr/>
        </p:nvGrpSpPr>
        <p:grpSpPr>
          <a:xfrm>
            <a:off x="1943099" y="3657600"/>
            <a:ext cx="2697482" cy="685800"/>
            <a:chOff x="0" y="0"/>
            <a:chExt cx="2697480" cy="685800"/>
          </a:xfrm>
        </p:grpSpPr>
        <p:sp>
          <p:nvSpPr>
            <p:cNvPr id="277" name="Rectangle"/>
            <p:cNvSpPr/>
            <p:nvPr/>
          </p:nvSpPr>
          <p:spPr>
            <a:xfrm>
              <a:off x="-1" y="0"/>
              <a:ext cx="2697482" cy="685800"/>
            </a:xfrm>
            <a:prstGeom prst="rect">
              <a:avLst/>
            </a:prstGeom>
            <a:solidFill>
              <a:srgbClr val="FFF5E6"/>
            </a:solidFill>
            <a:ln w="9525" cap="flat">
              <a:solidFill>
                <a:srgbClr val="A0783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8" name="Secret scanning…"/>
            <p:cNvSpPr txBox="1"/>
            <p:nvPr/>
          </p:nvSpPr>
          <p:spPr>
            <a:xfrm>
              <a:off x="50482" y="14667"/>
              <a:ext cx="2596516" cy="656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Secret scanning</a:t>
              </a:r>
            </a:p>
            <a:p>
              <a:pPr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(pre-commit + CI)</a:t>
              </a:r>
            </a:p>
            <a:p>
              <a:pPr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GP-CS-07</a:t>
              </a:r>
            </a:p>
          </p:txBody>
        </p:sp>
      </p:grpSp>
      <p:grpSp>
        <p:nvGrpSpPr>
          <p:cNvPr id="282" name="Rectangle 215"/>
          <p:cNvGrpSpPr/>
          <p:nvPr/>
        </p:nvGrpSpPr>
        <p:grpSpPr>
          <a:xfrm>
            <a:off x="3337559" y="3657600"/>
            <a:ext cx="2697481" cy="685800"/>
            <a:chOff x="0" y="0"/>
            <a:chExt cx="2697480" cy="685800"/>
          </a:xfrm>
        </p:grpSpPr>
        <p:sp>
          <p:nvSpPr>
            <p:cNvPr id="280" name="Rectangle"/>
            <p:cNvSpPr/>
            <p:nvPr/>
          </p:nvSpPr>
          <p:spPr>
            <a:xfrm>
              <a:off x="-1" y="0"/>
              <a:ext cx="2697482" cy="685800"/>
            </a:xfrm>
            <a:prstGeom prst="rect">
              <a:avLst/>
            </a:prstGeom>
            <a:solidFill>
              <a:srgbClr val="FFF5E6"/>
            </a:solidFill>
            <a:ln w="9525" cap="flat">
              <a:solidFill>
                <a:srgbClr val="A0783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81" name="SAST: clang-tidy/cppcheck…"/>
            <p:cNvSpPr txBox="1"/>
            <p:nvPr/>
          </p:nvSpPr>
          <p:spPr>
            <a:xfrm>
              <a:off x="50482" y="14667"/>
              <a:ext cx="2596516" cy="656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SAST: clang-tidy/cppcheck</a:t>
              </a:r>
            </a:p>
            <a:p>
              <a:pPr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Compiler hardening flags</a:t>
              </a:r>
            </a:p>
            <a:p>
              <a:pPr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GP-CS-08</a:t>
              </a:r>
            </a:p>
          </p:txBody>
        </p:sp>
      </p:grpSp>
      <p:grpSp>
        <p:nvGrpSpPr>
          <p:cNvPr id="285" name="Rectangle 216"/>
          <p:cNvGrpSpPr/>
          <p:nvPr/>
        </p:nvGrpSpPr>
        <p:grpSpPr>
          <a:xfrm>
            <a:off x="4732020" y="3657600"/>
            <a:ext cx="2697481" cy="685800"/>
            <a:chOff x="0" y="0"/>
            <a:chExt cx="2697480" cy="685800"/>
          </a:xfrm>
        </p:grpSpPr>
        <p:sp>
          <p:nvSpPr>
            <p:cNvPr id="283" name="Rectangle"/>
            <p:cNvSpPr/>
            <p:nvPr/>
          </p:nvSpPr>
          <p:spPr>
            <a:xfrm>
              <a:off x="-1" y="0"/>
              <a:ext cx="2697482" cy="685800"/>
            </a:xfrm>
            <a:prstGeom prst="rect">
              <a:avLst/>
            </a:prstGeom>
            <a:solidFill>
              <a:srgbClr val="FFF5E6"/>
            </a:solidFill>
            <a:ln w="9525" cap="flat">
              <a:solidFill>
                <a:srgbClr val="A0783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84" name="Unit tests + Sanitizers…"/>
            <p:cNvSpPr txBox="1"/>
            <p:nvPr/>
          </p:nvSpPr>
          <p:spPr>
            <a:xfrm>
              <a:off x="50482" y="14667"/>
              <a:ext cx="2596516" cy="656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Unit tests + Sanitizers</a:t>
              </a:r>
            </a:p>
            <a:p>
              <a:pPr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Fuzzing (libFuzzer)</a:t>
              </a:r>
            </a:p>
            <a:p>
              <a:pPr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GP-CS-10</a:t>
              </a:r>
            </a:p>
          </p:txBody>
        </p:sp>
      </p:grpSp>
      <p:grpSp>
        <p:nvGrpSpPr>
          <p:cNvPr id="288" name="Rectangle 217"/>
          <p:cNvGrpSpPr/>
          <p:nvPr/>
        </p:nvGrpSpPr>
        <p:grpSpPr>
          <a:xfrm>
            <a:off x="8915399" y="3657600"/>
            <a:ext cx="2697482" cy="685800"/>
            <a:chOff x="0" y="0"/>
            <a:chExt cx="2697480" cy="685800"/>
          </a:xfrm>
        </p:grpSpPr>
        <p:sp>
          <p:nvSpPr>
            <p:cNvPr id="286" name="Rectangle"/>
            <p:cNvSpPr/>
            <p:nvPr/>
          </p:nvSpPr>
          <p:spPr>
            <a:xfrm>
              <a:off x="-1" y="0"/>
              <a:ext cx="2697482" cy="685800"/>
            </a:xfrm>
            <a:prstGeom prst="rect">
              <a:avLst/>
            </a:prstGeom>
            <a:solidFill>
              <a:srgbClr val="FFF5E6"/>
            </a:solidFill>
            <a:ln w="9525" cap="flat">
              <a:solidFill>
                <a:srgbClr val="A0783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87" name="Runtime monitoring…"/>
            <p:cNvSpPr txBox="1"/>
            <p:nvPr/>
          </p:nvSpPr>
          <p:spPr>
            <a:xfrm>
              <a:off x="50482" y="14667"/>
              <a:ext cx="2596516" cy="6564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Runtime monitoring</a:t>
              </a:r>
            </a:p>
            <a:p>
              <a:pPr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Audit logs + alerts</a:t>
              </a:r>
            </a:p>
            <a:p>
              <a:pPr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GP-CS-05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09;p10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/>
          <a:p>
            <a:pPr/>
            <a:r>
              <a:t>TOOLS</a:t>
            </a:r>
          </a:p>
        </p:txBody>
      </p:sp>
      <p:sp>
        <p:nvSpPr>
          <p:cNvPr id="291" name="Google Shape;210;p10"/>
          <p:cNvSpPr txBox="1"/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/>
          <a:p>
            <a:pPr lvl="1" marL="228600" indent="228600">
              <a:spcBef>
                <a:spcPts val="0"/>
              </a:spcBef>
              <a:buSzTx/>
              <a:buNone/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DevSecOps pipeline (defense-in-depth):</a:t>
            </a:r>
            <a:endParaRPr sz="1600"/>
          </a:p>
          <a:p>
            <a:pPr marL="342900" indent="-228600">
              <a:buSzTx/>
              <a:buNone/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Code: secure coding checklist + peer review + pre-commit secret scan</a:t>
            </a:r>
          </a:p>
          <a:p>
            <a:pPr marL="342900" indent="-228600">
              <a:buSzTx/>
              <a:buNone/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Build: warnings-as-errors; secure flags (/GS, /sdl); SAST (clang-tidy/cppcheck)</a:t>
            </a:r>
          </a:p>
          <a:p>
            <a:pPr marL="342900" indent="-228600">
              <a:buSzTx/>
              <a:buNone/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Test: unit tests (CppUnitTestFramework) + sanitizers + fuzzing for input-heavy code</a:t>
            </a:r>
          </a:p>
          <a:p>
            <a:pPr marL="342900" indent="-228600">
              <a:buSzTx/>
              <a:buNone/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Package: dependency/SBOM scan + license check</a:t>
            </a:r>
          </a:p>
          <a:p>
            <a:pPr marL="342900" indent="-228600">
              <a:buSzTx/>
              <a:buNone/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Deploy: config hardening (no debug, least exposed ports), baseline policies</a:t>
            </a:r>
          </a:p>
          <a:p>
            <a:pPr marL="342900" indent="-228600">
              <a:buSzTx/>
              <a:buNone/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Operate: centralized logs, audit trails, alerting, and regular pen testing</a:t>
            </a:r>
          </a:p>
          <a:p>
            <a:pPr marL="342900" indent="-228600">
              <a:buSzTx/>
              <a:buNone/>
            </a:pPr>
          </a:p>
          <a:p>
            <a:pPr marL="342900" indent="-228600">
              <a:buSzTx/>
              <a:buNone/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External testing methods that catch vulnerabilities:</a:t>
            </a:r>
          </a:p>
          <a:p>
            <a:pPr marL="342900" indent="-228600">
              <a:buSzTx/>
              <a:buNone/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SAST finds unsafe patterns (bounds issues, risky APIs, insecure string handling).</a:t>
            </a:r>
          </a:p>
          <a:p>
            <a:pPr marL="342900" indent="-228600">
              <a:buSzTx/>
              <a:buNone/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Fuzzing + sanitizers catch crashes, memory corruption, and edge-case bugs.</a:t>
            </a:r>
          </a:p>
          <a:p>
            <a:pPr marL="342900" indent="-228600">
              <a:buSzTx/>
              <a:buNone/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Dependency scanning catches vulnerable libraries before release.</a:t>
            </a:r>
          </a:p>
        </p:txBody>
      </p:sp>
      <p:pic>
        <p:nvPicPr>
          <p:cNvPr id="292" name="Google Shape;211;p10" descr="Google Shape;211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084073" y="5440526"/>
            <a:ext cx="886602" cy="11492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93" name="Picture 211" descr="Picture 2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00800" y="3749038"/>
            <a:ext cx="5486400" cy="30923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16;p11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/>
          <a:p>
            <a:pPr/>
            <a:r>
              <a:t>RISKS AND BENEFITS</a:t>
            </a:r>
          </a:p>
        </p:txBody>
      </p:sp>
      <p:sp>
        <p:nvSpPr>
          <p:cNvPr id="296" name="Google Shape;217;p11"/>
          <p:cNvSpPr txBox="1"/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Biggest current problems (and why they matter):</a:t>
            </a: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Memory safety bugs (GP-CS-02): can lead to crashes, data corruption, or remote code execution.</a:t>
            </a: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Broken access control (GP-CS-04): can expose admin actions and sensitive data.</a:t>
            </a: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Secrets + misconfiguration (GP-CS-07/09): easiest way to get breached.</a:t>
            </a: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Act now (high return):</a:t>
            </a: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Add validation + safe string/buffer handling everywhere (cheap and prevents many bugs).</a:t>
            </a: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Make authz checks consistent (central helper + tests).</a:t>
            </a: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Turn on security automation gates in CI (SAST + unit tests + dependency scan).</a:t>
            </a: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If we wait:</a:t>
            </a: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Risk grows as features and developers increase.</a:t>
            </a: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Bugs become harder and more expensive to fix (and might become incidents).</a:t>
            </a: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Tradeoffs:</a:t>
            </a: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More upfront time for tests/review, but fewer production incidents and faster onboarding.</a:t>
            </a:r>
          </a:p>
        </p:txBody>
      </p:sp>
      <p:pic>
        <p:nvPicPr>
          <p:cNvPr id="297" name="Google Shape;218;p11" descr="Google Shape;218;p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084073" y="5440526"/>
            <a:ext cx="886602" cy="11492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23;p12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/>
          <a:p>
            <a:pPr/>
            <a:r>
              <a:t>RECOMMENDATIONS</a:t>
            </a:r>
          </a:p>
        </p:txBody>
      </p:sp>
      <p:sp>
        <p:nvSpPr>
          <p:cNvPr id="300" name="Google Shape;224;p12"/>
          <p:cNvSpPr txBox="1"/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/>
          <a:p>
            <a:pPr lvl="2" marL="1143000" indent="-228600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Current gaps we still need to address:</a:t>
            </a:r>
          </a:p>
          <a:p>
            <a:pPr lvl="2" marL="1333500" indent="-304800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Consistent threat modeling in design reviews (attack surface + assumptions).</a:t>
            </a:r>
          </a:p>
          <a:p>
            <a:pPr lvl="2" marL="1333500" indent="-304800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Stronger dependency/supply-chain controls (SBOMs, pinned versions, review critical libs).</a:t>
            </a:r>
          </a:p>
          <a:p>
            <a:pPr lvl="2" marL="1333500" indent="-304800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Better documentation for secure defaults (what is allowed/denied, logging rules, crypto rules).</a:t>
            </a:r>
          </a:p>
          <a:p>
            <a:pPr lvl="2" marL="1333500" indent="-304800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 clear process for reporting and fixing security findings (SLA + severity).</a:t>
            </a:r>
          </a:p>
          <a:p>
            <a:pPr lvl="2" marL="1333500" indent="-304800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lvl="2" marL="1333500" indent="-304800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Future focus (getting ahead of threats):</a:t>
            </a:r>
          </a:p>
          <a:p>
            <a:pPr lvl="2" marL="1333500" indent="-304800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Add fuzzing to high-risk parsers and input-heavy components.</a:t>
            </a:r>
          </a:p>
          <a:p>
            <a:pPr lvl="2" marL="1333500" indent="-304800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Expand automated checks: secret scanning, IaC scanning, and policy-as-code.</a:t>
            </a:r>
          </a:p>
          <a:p>
            <a:pPr lvl="2" marL="1333500" indent="-304800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Regular external reviews: pen tests / red team exercises + lessons learned.</a:t>
            </a:r>
            <a:br/>
            <a:br/>
            <a:br/>
            <a:r>
              <a:rPr i="1"/>
              <a:t>Real-world example:</a:t>
            </a:r>
            <a:r>
              <a:t> </a:t>
            </a:r>
            <a:r>
              <a:rPr b="1"/>
              <a:t>SolarWinds (2020)</a:t>
            </a:r>
            <a:r>
              <a:t> showed how a supply-chain compromise can spread through trusted software updates. That’s why we’re pushing </a:t>
            </a:r>
            <a:r>
              <a:rPr b="1"/>
              <a:t>SBOMs, pinned versions, and dependency scannin</a:t>
            </a:r>
            <a:endParaRPr b="1"/>
          </a:p>
          <a:p>
            <a:pPr lvl="2" marL="1333500" indent="-304800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1"/>
          </a:p>
          <a:p>
            <a:pPr lvl="2" marL="1333500" indent="-304800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lvl="2" marL="1333500" indent="-304800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i="1"/>
              <a:t>Real-world example:</a:t>
            </a:r>
            <a:r>
              <a:t> </a:t>
            </a:r>
            <a:r>
              <a:rPr b="1"/>
              <a:t>Log4Shell (2021)</a:t>
            </a:r>
            <a:r>
              <a:t> was a reminder that one common third-party library bug can impact tons of systems fast. That’s why we need </a:t>
            </a:r>
            <a:r>
              <a:rPr b="1"/>
              <a:t>inventory (SBOM), rapid patch process, and CI dependency alerts</a:t>
            </a:r>
            <a:r>
              <a:t>.</a:t>
            </a:r>
            <a:br/>
          </a:p>
        </p:txBody>
      </p:sp>
      <p:pic>
        <p:nvPicPr>
          <p:cNvPr id="301" name="Google Shape;225;p12" descr="Google Shape;225;p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084073" y="5440526"/>
            <a:ext cx="886602" cy="11492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230;p13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/>
          <a:p>
            <a:pPr/>
            <a:r>
              <a:t>CONCLUSIONS</a:t>
            </a:r>
          </a:p>
        </p:txBody>
      </p:sp>
      <p:sp>
        <p:nvSpPr>
          <p:cNvPr id="304" name="Google Shape;231;p13"/>
          <p:cNvSpPr txBox="1"/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Standards we should adopt (and keep enforcing):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Security gates in CI (SAST + unit tests + dependency scan) aligned to NIST SSDF.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OWASP-style requirements for validation, auth, and secure configuration.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'No unsafe defaults' rule: deny-by-default permissions, no debug in production, no hardcoded secrets.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 policy maintenance cycle: quarterly review, metrics (defects found pre-release), and updates after incidents.</a:t>
            </a: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63681" indent="-249381">
              <a:spcBef>
                <a:spcPts val="0"/>
              </a:spcBef>
              <a:buSzPts val="1600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Bottom line: we assume vulnerabilities will happen, so we reduce attack surface, add layers, and catch issues early with automation.</a:t>
            </a:r>
          </a:p>
        </p:txBody>
      </p:sp>
      <p:pic>
        <p:nvPicPr>
          <p:cNvPr id="305" name="Google Shape;232;p13" descr="Google Shape;232;p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084073" y="5440526"/>
            <a:ext cx="886602" cy="11492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237;p14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/>
          <a:lstStyle/>
          <a:p>
            <a:pPr/>
            <a:r>
              <a:t>REFERENCES</a:t>
            </a:r>
          </a:p>
        </p:txBody>
      </p:sp>
      <p:sp>
        <p:nvSpPr>
          <p:cNvPr id="308" name="Google Shape;238;p14"/>
          <p:cNvSpPr txBox="1"/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Souppaya, M., Scarfone, K., &amp; Dodson, D. (2022). Secure Software Development Framework (SSDF) Version 1.1 (NIST SP 800-218). National Institute of Standards and Technology. https://csrc.nist.gov/pubs/sp/800/218/final</a:t>
            </a: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OWASP Foundation. (2021). OWASP Top 10:2021. https://owasp.org/Top10/2021/</a:t>
            </a: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OWASP Foundation. (n.d.). OWASP Application Security Verification Standard (ASVS). https://owasp.org/www-project-application-security-verification-standard/</a:t>
            </a: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32509" indent="-218209">
              <a:spcBef>
                <a:spcPts val="0"/>
              </a:spcBef>
              <a:buSzPts val="1400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Microsoft. (2025). Use the Microsoft Unit Testing Framework for C++. Microsoft Learn. https://learn.microsoft.com/en-us/visualstudio/test/how-to-use-microsoft-test-framework-for-cpp?view=visualstudio</a:t>
            </a:r>
          </a:p>
        </p:txBody>
      </p:sp>
      <p:pic>
        <p:nvPicPr>
          <p:cNvPr id="309" name="Google Shape;239;p14" descr="Google Shape;239;p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084073" y="5440526"/>
            <a:ext cx="886602" cy="11492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Vapor Trail">
  <a:themeElements>
    <a:clrScheme name="Vapor Trail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0000FF"/>
      </a:hlink>
      <a:folHlink>
        <a:srgbClr val="FF00FF"/>
      </a:folHlink>
    </a:clrScheme>
    <a:fontScheme name="Vapor Trail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Vapor Trail">
  <a:themeElements>
    <a:clrScheme name="Vapor Trai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0000FF"/>
      </a:hlink>
      <a:folHlink>
        <a:srgbClr val="FF00FF"/>
      </a:folHlink>
    </a:clrScheme>
    <a:fontScheme name="Vapor Trail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